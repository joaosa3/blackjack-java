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6858000" cy="9144000"/>
  <p:embeddedFontLst>
    <p:embeddedFont>
      <p:font typeface="Arimo Bold" panose="020B0604020202020204" charset="0"/>
      <p:regular r:id="rId11"/>
    </p:embeddedFont>
    <p:embeddedFont>
      <p:font typeface="Barlow" panose="00000500000000000000" pitchFamily="2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0" d="100"/>
          <a:sy n="60" d="100"/>
        </p:scale>
        <p:origin x="298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11" Type="http://schemas.openxmlformats.org/officeDocument/2006/relationships/image" Target="../media/image29.svg"/><Relationship Id="rId5" Type="http://schemas.openxmlformats.org/officeDocument/2006/relationships/image" Target="../media/image23.sv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9525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A081B">
                <a:alpha val="56078"/>
              </a:srgbClr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6858000" cy="10287000"/>
            <a:chOff x="0" y="0"/>
            <a:chExt cx="9144000" cy="13716000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7938046" y="2684561"/>
            <a:ext cx="9269909" cy="1771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49"/>
              </a:lnSpc>
            </a:pPr>
            <a:r>
              <a:rPr lang="en-US" sz="5374" b="1">
                <a:solidFill>
                  <a:srgbClr val="F0FCFF"/>
                </a:solidFill>
                <a:latin typeface="Arimo Bold"/>
                <a:ea typeface="Arimo Bold"/>
                <a:cs typeface="Arimo Bold"/>
                <a:sym typeface="Arimo Bold"/>
              </a:rPr>
              <a:t>Blackjack Game Development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938046" y="4551015"/>
            <a:ext cx="6642498" cy="714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74"/>
              </a:lnSpc>
            </a:pPr>
            <a:r>
              <a:rPr lang="en-US" sz="4312" b="1">
                <a:solidFill>
                  <a:srgbClr val="F0FCFF"/>
                </a:solidFill>
                <a:latin typeface="Arimo Bold"/>
                <a:ea typeface="Arimo Bold"/>
                <a:cs typeface="Arimo Bold"/>
                <a:sym typeface="Arimo Bold"/>
              </a:rPr>
              <a:t>Sprint 2 Review and Demo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938046" y="7366016"/>
            <a:ext cx="3429000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1">
                <a:solidFill>
                  <a:srgbClr val="F0FCFF"/>
                </a:solidFill>
                <a:latin typeface="Arimo Bold"/>
                <a:ea typeface="Arimo Bold"/>
                <a:cs typeface="Arimo Bold"/>
                <a:sym typeface="Arimo Bold"/>
              </a:rPr>
              <a:t>Project Team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938046" y="7941617"/>
            <a:ext cx="4258568" cy="5985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75"/>
              </a:lnSpc>
            </a:pPr>
            <a:r>
              <a:rPr lang="en-US" sz="2375">
                <a:solidFill>
                  <a:srgbClr val="16FFBB"/>
                </a:solidFill>
                <a:latin typeface="Barlow"/>
                <a:ea typeface="Barlow"/>
                <a:cs typeface="Barlow"/>
                <a:sym typeface="Barlow"/>
              </a:rPr>
              <a:t>Nepal National </a:t>
            </a:r>
            <a:r>
              <a:rPr lang="en-US" sz="2375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Team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000733" y="7366016"/>
            <a:ext cx="3429000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1">
                <a:solidFill>
                  <a:srgbClr val="F0FCFF"/>
                </a:solidFill>
                <a:latin typeface="Arimo Bold"/>
                <a:ea typeface="Arimo Bold"/>
                <a:cs typeface="Arimo Bold"/>
                <a:sym typeface="Arimo Bold"/>
              </a:rPr>
              <a:t>Date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000733" y="7941618"/>
            <a:ext cx="4258568" cy="460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75"/>
              </a:lnSpc>
            </a:pPr>
            <a:r>
              <a:rPr lang="en-US" sz="2375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5 November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A081B">
                <a:alpha val="56078"/>
              </a:srgbClr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6858000" cy="10287000"/>
            <a:chOff x="0" y="0"/>
            <a:chExt cx="9144000" cy="13716000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7791450" y="683419"/>
            <a:ext cx="9563100" cy="15388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12"/>
              </a:lnSpc>
            </a:pPr>
            <a:r>
              <a:rPr lang="en-US" sz="4625" b="1">
                <a:solidFill>
                  <a:srgbClr val="F0FCFF"/>
                </a:solidFill>
                <a:latin typeface="Arimo Bold"/>
                <a:ea typeface="Arimo Bold"/>
                <a:cs typeface="Arimo Bold"/>
                <a:sym typeface="Arimo Bold"/>
              </a:rPr>
              <a:t>Sprint 1 Recap: Laying the Foundation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7777162" y="2608064"/>
            <a:ext cx="4676775" cy="3570535"/>
            <a:chOff x="0" y="0"/>
            <a:chExt cx="6235700" cy="4760713"/>
          </a:xfrm>
        </p:grpSpPr>
        <p:sp>
          <p:nvSpPr>
            <p:cNvPr id="10" name="Freeform 10"/>
            <p:cNvSpPr/>
            <p:nvPr/>
          </p:nvSpPr>
          <p:spPr>
            <a:xfrm>
              <a:off x="19050" y="19050"/>
              <a:ext cx="6197600" cy="4722622"/>
            </a:xfrm>
            <a:custGeom>
              <a:avLst/>
              <a:gdLst/>
              <a:ahLst/>
              <a:cxnLst/>
              <a:rect l="l" t="t" r="r" b="b"/>
              <a:pathLst>
                <a:path w="6197600" h="4722622">
                  <a:moveTo>
                    <a:pt x="0" y="533527"/>
                  </a:moveTo>
                  <a:cubicBezTo>
                    <a:pt x="0" y="238887"/>
                    <a:pt x="239268" y="0"/>
                    <a:pt x="534543" y="0"/>
                  </a:cubicBezTo>
                  <a:lnTo>
                    <a:pt x="5663057" y="0"/>
                  </a:lnTo>
                  <a:cubicBezTo>
                    <a:pt x="5958205" y="0"/>
                    <a:pt x="6197600" y="238887"/>
                    <a:pt x="6197600" y="533527"/>
                  </a:cubicBezTo>
                  <a:lnTo>
                    <a:pt x="6197600" y="4189095"/>
                  </a:lnTo>
                  <a:cubicBezTo>
                    <a:pt x="6197600" y="4483735"/>
                    <a:pt x="5958332" y="4722622"/>
                    <a:pt x="5663057" y="4722622"/>
                  </a:cubicBezTo>
                  <a:lnTo>
                    <a:pt x="534543" y="4722622"/>
                  </a:lnTo>
                  <a:cubicBezTo>
                    <a:pt x="239395" y="4722622"/>
                    <a:pt x="0" y="4483735"/>
                    <a:pt x="0" y="4189095"/>
                  </a:cubicBezTo>
                  <a:close/>
                </a:path>
              </a:pathLst>
            </a:custGeom>
            <a:solidFill>
              <a:srgbClr val="0A081B"/>
            </a:solidFill>
          </p:spPr>
        </p:sp>
        <p:sp>
          <p:nvSpPr>
            <p:cNvPr id="11" name="Freeform 11"/>
            <p:cNvSpPr/>
            <p:nvPr/>
          </p:nvSpPr>
          <p:spPr>
            <a:xfrm>
              <a:off x="0" y="0"/>
              <a:ext cx="6235700" cy="4760722"/>
            </a:xfrm>
            <a:custGeom>
              <a:avLst/>
              <a:gdLst/>
              <a:ahLst/>
              <a:cxnLst/>
              <a:rect l="l" t="t" r="r" b="b"/>
              <a:pathLst>
                <a:path w="6235700" h="4760722">
                  <a:moveTo>
                    <a:pt x="0" y="552577"/>
                  </a:moveTo>
                  <a:cubicBezTo>
                    <a:pt x="0" y="247396"/>
                    <a:pt x="247904" y="0"/>
                    <a:pt x="553593" y="0"/>
                  </a:cubicBezTo>
                  <a:lnTo>
                    <a:pt x="5682107" y="0"/>
                  </a:lnTo>
                  <a:lnTo>
                    <a:pt x="5682107" y="19050"/>
                  </a:lnTo>
                  <a:lnTo>
                    <a:pt x="5682107" y="0"/>
                  </a:lnTo>
                  <a:cubicBezTo>
                    <a:pt x="5987796" y="0"/>
                    <a:pt x="6235700" y="247396"/>
                    <a:pt x="6235700" y="552577"/>
                  </a:cubicBezTo>
                  <a:lnTo>
                    <a:pt x="6216650" y="552577"/>
                  </a:lnTo>
                  <a:lnTo>
                    <a:pt x="6235700" y="552577"/>
                  </a:lnTo>
                  <a:lnTo>
                    <a:pt x="6235700" y="4208145"/>
                  </a:lnTo>
                  <a:lnTo>
                    <a:pt x="6216650" y="4208145"/>
                  </a:lnTo>
                  <a:lnTo>
                    <a:pt x="6235700" y="4208145"/>
                  </a:lnTo>
                  <a:cubicBezTo>
                    <a:pt x="6235700" y="4513326"/>
                    <a:pt x="5987796" y="4760722"/>
                    <a:pt x="5682107" y="4760722"/>
                  </a:cubicBezTo>
                  <a:lnTo>
                    <a:pt x="5682107" y="4741672"/>
                  </a:lnTo>
                  <a:lnTo>
                    <a:pt x="5682107" y="4760722"/>
                  </a:lnTo>
                  <a:lnTo>
                    <a:pt x="553593" y="4760722"/>
                  </a:lnTo>
                  <a:lnTo>
                    <a:pt x="553593" y="4741672"/>
                  </a:lnTo>
                  <a:lnTo>
                    <a:pt x="553593" y="4760722"/>
                  </a:lnTo>
                  <a:cubicBezTo>
                    <a:pt x="247904" y="4760722"/>
                    <a:pt x="0" y="4513326"/>
                    <a:pt x="0" y="4208145"/>
                  </a:cubicBezTo>
                  <a:lnTo>
                    <a:pt x="0" y="552577"/>
                  </a:lnTo>
                  <a:lnTo>
                    <a:pt x="19050" y="552577"/>
                  </a:lnTo>
                  <a:lnTo>
                    <a:pt x="0" y="552577"/>
                  </a:lnTo>
                  <a:moveTo>
                    <a:pt x="38100" y="552577"/>
                  </a:moveTo>
                  <a:lnTo>
                    <a:pt x="38100" y="4208145"/>
                  </a:lnTo>
                  <a:lnTo>
                    <a:pt x="19050" y="4208145"/>
                  </a:lnTo>
                  <a:lnTo>
                    <a:pt x="38100" y="4208145"/>
                  </a:lnTo>
                  <a:cubicBezTo>
                    <a:pt x="38100" y="4492244"/>
                    <a:pt x="268859" y="4722622"/>
                    <a:pt x="553593" y="4722622"/>
                  </a:cubicBezTo>
                  <a:lnTo>
                    <a:pt x="5682107" y="4722622"/>
                  </a:lnTo>
                  <a:cubicBezTo>
                    <a:pt x="5966841" y="4722622"/>
                    <a:pt x="6197600" y="4492244"/>
                    <a:pt x="6197600" y="4208145"/>
                  </a:cubicBezTo>
                  <a:lnTo>
                    <a:pt x="6197600" y="552577"/>
                  </a:lnTo>
                  <a:cubicBezTo>
                    <a:pt x="6197600" y="268478"/>
                    <a:pt x="5966841" y="38100"/>
                    <a:pt x="5682107" y="38100"/>
                  </a:cubicBezTo>
                  <a:lnTo>
                    <a:pt x="553593" y="38100"/>
                  </a:lnTo>
                  <a:lnTo>
                    <a:pt x="553593" y="19050"/>
                  </a:lnTo>
                  <a:lnTo>
                    <a:pt x="553593" y="38100"/>
                  </a:lnTo>
                  <a:cubicBezTo>
                    <a:pt x="268859" y="38100"/>
                    <a:pt x="38100" y="268478"/>
                    <a:pt x="38100" y="552577"/>
                  </a:cubicBezTo>
                  <a:close/>
                </a:path>
              </a:pathLst>
            </a:custGeom>
            <a:solidFill>
              <a:srgbClr val="16FFBB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8086725" y="2917626"/>
            <a:ext cx="800100" cy="800100"/>
            <a:chOff x="0" y="0"/>
            <a:chExt cx="1066800" cy="1066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66800" cy="1066800"/>
            </a:xfrm>
            <a:custGeom>
              <a:avLst/>
              <a:gdLst/>
              <a:ahLst/>
              <a:cxnLst/>
              <a:rect l="l" t="t" r="r" b="b"/>
              <a:pathLst>
                <a:path w="1066800" h="1066800">
                  <a:moveTo>
                    <a:pt x="0" y="533400"/>
                  </a:moveTo>
                  <a:cubicBezTo>
                    <a:pt x="0" y="238760"/>
                    <a:pt x="238760" y="0"/>
                    <a:pt x="533400" y="0"/>
                  </a:cubicBezTo>
                  <a:cubicBezTo>
                    <a:pt x="828040" y="0"/>
                    <a:pt x="1066800" y="238760"/>
                    <a:pt x="1066800" y="533400"/>
                  </a:cubicBezTo>
                  <a:cubicBezTo>
                    <a:pt x="1066800" y="828040"/>
                    <a:pt x="828040" y="1066800"/>
                    <a:pt x="533400" y="1066800"/>
                  </a:cubicBezTo>
                  <a:cubicBezTo>
                    <a:pt x="238760" y="1066800"/>
                    <a:pt x="0" y="828040"/>
                    <a:pt x="0" y="533400"/>
                  </a:cubicBezTo>
                  <a:close/>
                </a:path>
              </a:pathLst>
            </a:custGeom>
            <a:solidFill>
              <a:srgbClr val="16FFBB"/>
            </a:solidFill>
          </p:spPr>
        </p:sp>
      </p:grpSp>
      <p:sp>
        <p:nvSpPr>
          <p:cNvPr id="14" name="Freeform 14" descr="preencoded.png"/>
          <p:cNvSpPr/>
          <p:nvPr/>
        </p:nvSpPr>
        <p:spPr>
          <a:xfrm>
            <a:off x="8306692" y="3137595"/>
            <a:ext cx="360015" cy="360015"/>
          </a:xfrm>
          <a:custGeom>
            <a:avLst/>
            <a:gdLst/>
            <a:ahLst/>
            <a:cxnLst/>
            <a:rect l="l" t="t" r="r" b="b"/>
            <a:pathLst>
              <a:path w="360015" h="360015">
                <a:moveTo>
                  <a:pt x="0" y="0"/>
                </a:moveTo>
                <a:lnTo>
                  <a:pt x="360015" y="0"/>
                </a:lnTo>
                <a:lnTo>
                  <a:pt x="360015" y="360015"/>
                </a:lnTo>
                <a:lnTo>
                  <a:pt x="0" y="3600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6578" b="-6578"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8086725" y="3936801"/>
            <a:ext cx="3556397" cy="460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750" b="1">
                <a:solidFill>
                  <a:srgbClr val="E0E4E6"/>
                </a:solidFill>
                <a:latin typeface="Arimo Bold"/>
                <a:ea typeface="Arimo Bold"/>
                <a:cs typeface="Arimo Bold"/>
                <a:sym typeface="Arimo Bold"/>
              </a:rPr>
              <a:t>Key Objectives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086725" y="4503241"/>
            <a:ext cx="4057650" cy="16557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062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To develop a simple, secure, and engaging Blackjack game with smooth gameplay and a clean interface.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2692062" y="2608064"/>
            <a:ext cx="4676775" cy="3570535"/>
            <a:chOff x="0" y="0"/>
            <a:chExt cx="6235700" cy="4760713"/>
          </a:xfrm>
        </p:grpSpPr>
        <p:sp>
          <p:nvSpPr>
            <p:cNvPr id="18" name="Freeform 18"/>
            <p:cNvSpPr/>
            <p:nvPr/>
          </p:nvSpPr>
          <p:spPr>
            <a:xfrm>
              <a:off x="19050" y="19050"/>
              <a:ext cx="6197600" cy="4722622"/>
            </a:xfrm>
            <a:custGeom>
              <a:avLst/>
              <a:gdLst/>
              <a:ahLst/>
              <a:cxnLst/>
              <a:rect l="l" t="t" r="r" b="b"/>
              <a:pathLst>
                <a:path w="6197600" h="4722622">
                  <a:moveTo>
                    <a:pt x="0" y="533527"/>
                  </a:moveTo>
                  <a:cubicBezTo>
                    <a:pt x="0" y="238887"/>
                    <a:pt x="239268" y="0"/>
                    <a:pt x="534543" y="0"/>
                  </a:cubicBezTo>
                  <a:lnTo>
                    <a:pt x="5663057" y="0"/>
                  </a:lnTo>
                  <a:cubicBezTo>
                    <a:pt x="5958205" y="0"/>
                    <a:pt x="6197600" y="238887"/>
                    <a:pt x="6197600" y="533527"/>
                  </a:cubicBezTo>
                  <a:lnTo>
                    <a:pt x="6197600" y="4189095"/>
                  </a:lnTo>
                  <a:cubicBezTo>
                    <a:pt x="6197600" y="4483735"/>
                    <a:pt x="5958332" y="4722622"/>
                    <a:pt x="5663057" y="4722622"/>
                  </a:cubicBezTo>
                  <a:lnTo>
                    <a:pt x="534543" y="4722622"/>
                  </a:lnTo>
                  <a:cubicBezTo>
                    <a:pt x="239395" y="4722622"/>
                    <a:pt x="0" y="4483735"/>
                    <a:pt x="0" y="4189095"/>
                  </a:cubicBezTo>
                  <a:close/>
                </a:path>
              </a:pathLst>
            </a:custGeom>
            <a:solidFill>
              <a:srgbClr val="0A081B"/>
            </a:solidFill>
          </p:spPr>
        </p:sp>
        <p:sp>
          <p:nvSpPr>
            <p:cNvPr id="19" name="Freeform 19"/>
            <p:cNvSpPr/>
            <p:nvPr/>
          </p:nvSpPr>
          <p:spPr>
            <a:xfrm>
              <a:off x="0" y="0"/>
              <a:ext cx="6235700" cy="4760722"/>
            </a:xfrm>
            <a:custGeom>
              <a:avLst/>
              <a:gdLst/>
              <a:ahLst/>
              <a:cxnLst/>
              <a:rect l="l" t="t" r="r" b="b"/>
              <a:pathLst>
                <a:path w="6235700" h="4760722">
                  <a:moveTo>
                    <a:pt x="0" y="552577"/>
                  </a:moveTo>
                  <a:cubicBezTo>
                    <a:pt x="0" y="247396"/>
                    <a:pt x="247904" y="0"/>
                    <a:pt x="553593" y="0"/>
                  </a:cubicBezTo>
                  <a:lnTo>
                    <a:pt x="5682107" y="0"/>
                  </a:lnTo>
                  <a:lnTo>
                    <a:pt x="5682107" y="19050"/>
                  </a:lnTo>
                  <a:lnTo>
                    <a:pt x="5682107" y="0"/>
                  </a:lnTo>
                  <a:cubicBezTo>
                    <a:pt x="5987796" y="0"/>
                    <a:pt x="6235700" y="247396"/>
                    <a:pt x="6235700" y="552577"/>
                  </a:cubicBezTo>
                  <a:lnTo>
                    <a:pt x="6216650" y="552577"/>
                  </a:lnTo>
                  <a:lnTo>
                    <a:pt x="6235700" y="552577"/>
                  </a:lnTo>
                  <a:lnTo>
                    <a:pt x="6235700" y="4208145"/>
                  </a:lnTo>
                  <a:lnTo>
                    <a:pt x="6216650" y="4208145"/>
                  </a:lnTo>
                  <a:lnTo>
                    <a:pt x="6235700" y="4208145"/>
                  </a:lnTo>
                  <a:cubicBezTo>
                    <a:pt x="6235700" y="4513326"/>
                    <a:pt x="5987796" y="4760722"/>
                    <a:pt x="5682107" y="4760722"/>
                  </a:cubicBezTo>
                  <a:lnTo>
                    <a:pt x="5682107" y="4741672"/>
                  </a:lnTo>
                  <a:lnTo>
                    <a:pt x="5682107" y="4760722"/>
                  </a:lnTo>
                  <a:lnTo>
                    <a:pt x="553593" y="4760722"/>
                  </a:lnTo>
                  <a:lnTo>
                    <a:pt x="553593" y="4741672"/>
                  </a:lnTo>
                  <a:lnTo>
                    <a:pt x="553593" y="4760722"/>
                  </a:lnTo>
                  <a:cubicBezTo>
                    <a:pt x="247904" y="4760722"/>
                    <a:pt x="0" y="4513326"/>
                    <a:pt x="0" y="4208145"/>
                  </a:cubicBezTo>
                  <a:lnTo>
                    <a:pt x="0" y="552577"/>
                  </a:lnTo>
                  <a:lnTo>
                    <a:pt x="19050" y="552577"/>
                  </a:lnTo>
                  <a:lnTo>
                    <a:pt x="0" y="552577"/>
                  </a:lnTo>
                  <a:moveTo>
                    <a:pt x="38100" y="552577"/>
                  </a:moveTo>
                  <a:lnTo>
                    <a:pt x="38100" y="4208145"/>
                  </a:lnTo>
                  <a:lnTo>
                    <a:pt x="19050" y="4208145"/>
                  </a:lnTo>
                  <a:lnTo>
                    <a:pt x="38100" y="4208145"/>
                  </a:lnTo>
                  <a:cubicBezTo>
                    <a:pt x="38100" y="4492244"/>
                    <a:pt x="268859" y="4722622"/>
                    <a:pt x="553593" y="4722622"/>
                  </a:cubicBezTo>
                  <a:lnTo>
                    <a:pt x="5682107" y="4722622"/>
                  </a:lnTo>
                  <a:cubicBezTo>
                    <a:pt x="5966841" y="4722622"/>
                    <a:pt x="6197600" y="4492244"/>
                    <a:pt x="6197600" y="4208145"/>
                  </a:cubicBezTo>
                  <a:lnTo>
                    <a:pt x="6197600" y="552577"/>
                  </a:lnTo>
                  <a:cubicBezTo>
                    <a:pt x="6197600" y="268478"/>
                    <a:pt x="5966841" y="38100"/>
                    <a:pt x="5682107" y="38100"/>
                  </a:cubicBezTo>
                  <a:lnTo>
                    <a:pt x="553593" y="38100"/>
                  </a:lnTo>
                  <a:lnTo>
                    <a:pt x="553593" y="19050"/>
                  </a:lnTo>
                  <a:lnTo>
                    <a:pt x="553593" y="38100"/>
                  </a:lnTo>
                  <a:cubicBezTo>
                    <a:pt x="268859" y="38100"/>
                    <a:pt x="38100" y="268478"/>
                    <a:pt x="38100" y="552577"/>
                  </a:cubicBezTo>
                  <a:close/>
                </a:path>
              </a:pathLst>
            </a:custGeom>
            <a:solidFill>
              <a:srgbClr val="29DDDA"/>
            </a:solidFill>
          </p:spPr>
        </p:sp>
      </p:grpSp>
      <p:grpSp>
        <p:nvGrpSpPr>
          <p:cNvPr id="20" name="Group 20"/>
          <p:cNvGrpSpPr/>
          <p:nvPr/>
        </p:nvGrpSpPr>
        <p:grpSpPr>
          <a:xfrm>
            <a:off x="13001625" y="2917626"/>
            <a:ext cx="800100" cy="800100"/>
            <a:chOff x="0" y="0"/>
            <a:chExt cx="1066800" cy="1066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066800" cy="1066800"/>
            </a:xfrm>
            <a:custGeom>
              <a:avLst/>
              <a:gdLst/>
              <a:ahLst/>
              <a:cxnLst/>
              <a:rect l="l" t="t" r="r" b="b"/>
              <a:pathLst>
                <a:path w="1066800" h="1066800">
                  <a:moveTo>
                    <a:pt x="0" y="533400"/>
                  </a:moveTo>
                  <a:cubicBezTo>
                    <a:pt x="0" y="238760"/>
                    <a:pt x="238760" y="0"/>
                    <a:pt x="533400" y="0"/>
                  </a:cubicBezTo>
                  <a:cubicBezTo>
                    <a:pt x="828040" y="0"/>
                    <a:pt x="1066800" y="238760"/>
                    <a:pt x="1066800" y="533400"/>
                  </a:cubicBezTo>
                  <a:cubicBezTo>
                    <a:pt x="1066800" y="828040"/>
                    <a:pt x="828040" y="1066800"/>
                    <a:pt x="533400" y="1066800"/>
                  </a:cubicBezTo>
                  <a:cubicBezTo>
                    <a:pt x="238760" y="1066800"/>
                    <a:pt x="0" y="828040"/>
                    <a:pt x="0" y="533400"/>
                  </a:cubicBezTo>
                  <a:close/>
                </a:path>
              </a:pathLst>
            </a:custGeom>
            <a:solidFill>
              <a:srgbClr val="29DDDA"/>
            </a:solidFill>
          </p:spPr>
        </p:sp>
      </p:grpSp>
      <p:sp>
        <p:nvSpPr>
          <p:cNvPr id="22" name="Freeform 22" descr="preencoded.png"/>
          <p:cNvSpPr/>
          <p:nvPr/>
        </p:nvSpPr>
        <p:spPr>
          <a:xfrm>
            <a:off x="13221592" y="3137595"/>
            <a:ext cx="360015" cy="360015"/>
          </a:xfrm>
          <a:custGeom>
            <a:avLst/>
            <a:gdLst/>
            <a:ahLst/>
            <a:cxnLst/>
            <a:rect l="l" t="t" r="r" b="b"/>
            <a:pathLst>
              <a:path w="360015" h="360015">
                <a:moveTo>
                  <a:pt x="0" y="0"/>
                </a:moveTo>
                <a:lnTo>
                  <a:pt x="360015" y="0"/>
                </a:lnTo>
                <a:lnTo>
                  <a:pt x="360015" y="360015"/>
                </a:lnTo>
                <a:lnTo>
                  <a:pt x="0" y="36001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t="-2631" b="-2631"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13001625" y="3936801"/>
            <a:ext cx="3556398" cy="492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750" b="1">
                <a:solidFill>
                  <a:srgbClr val="E0E4E6"/>
                </a:solidFill>
                <a:latin typeface="Arimo Bold"/>
                <a:ea typeface="Arimo Bold"/>
                <a:cs typeface="Arimo Bold"/>
                <a:sym typeface="Arimo Bold"/>
              </a:rPr>
              <a:t>Core Game Logic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001625" y="4503241"/>
            <a:ext cx="4057650" cy="13657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062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Established basic rules for card dealing, calculating hand values, and determining Blackjack.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7777162" y="6416725"/>
            <a:ext cx="9591675" cy="3143845"/>
            <a:chOff x="0" y="0"/>
            <a:chExt cx="12788900" cy="4191793"/>
          </a:xfrm>
        </p:grpSpPr>
        <p:sp>
          <p:nvSpPr>
            <p:cNvPr id="26" name="Freeform 26"/>
            <p:cNvSpPr/>
            <p:nvPr/>
          </p:nvSpPr>
          <p:spPr>
            <a:xfrm>
              <a:off x="19050" y="19050"/>
              <a:ext cx="12750800" cy="4153662"/>
            </a:xfrm>
            <a:custGeom>
              <a:avLst/>
              <a:gdLst/>
              <a:ahLst/>
              <a:cxnLst/>
              <a:rect l="l" t="t" r="r" b="b"/>
              <a:pathLst>
                <a:path w="12750800" h="4153662">
                  <a:moveTo>
                    <a:pt x="0" y="533400"/>
                  </a:moveTo>
                  <a:cubicBezTo>
                    <a:pt x="0" y="238760"/>
                    <a:pt x="240284" y="0"/>
                    <a:pt x="536702" y="0"/>
                  </a:cubicBezTo>
                  <a:lnTo>
                    <a:pt x="12214098" y="0"/>
                  </a:lnTo>
                  <a:cubicBezTo>
                    <a:pt x="12510516" y="0"/>
                    <a:pt x="12750800" y="238887"/>
                    <a:pt x="12750800" y="533400"/>
                  </a:cubicBezTo>
                  <a:lnTo>
                    <a:pt x="12750800" y="3620262"/>
                  </a:lnTo>
                  <a:cubicBezTo>
                    <a:pt x="12750800" y="3914902"/>
                    <a:pt x="12510516" y="4153662"/>
                    <a:pt x="12214098" y="4153662"/>
                  </a:cubicBezTo>
                  <a:lnTo>
                    <a:pt x="536702" y="4153662"/>
                  </a:lnTo>
                  <a:cubicBezTo>
                    <a:pt x="240284" y="4153662"/>
                    <a:pt x="0" y="3914775"/>
                    <a:pt x="0" y="3620262"/>
                  </a:cubicBezTo>
                  <a:close/>
                </a:path>
              </a:pathLst>
            </a:custGeom>
            <a:solidFill>
              <a:srgbClr val="0A081B"/>
            </a:solidFill>
          </p:spPr>
        </p:sp>
        <p:sp>
          <p:nvSpPr>
            <p:cNvPr id="27" name="Freeform 27"/>
            <p:cNvSpPr/>
            <p:nvPr/>
          </p:nvSpPr>
          <p:spPr>
            <a:xfrm>
              <a:off x="0" y="0"/>
              <a:ext cx="12788900" cy="4191762"/>
            </a:xfrm>
            <a:custGeom>
              <a:avLst/>
              <a:gdLst/>
              <a:ahLst/>
              <a:cxnLst/>
              <a:rect l="l" t="t" r="r" b="b"/>
              <a:pathLst>
                <a:path w="12788900" h="4191762">
                  <a:moveTo>
                    <a:pt x="0" y="552450"/>
                  </a:moveTo>
                  <a:cubicBezTo>
                    <a:pt x="0" y="247269"/>
                    <a:pt x="248920" y="0"/>
                    <a:pt x="555752" y="0"/>
                  </a:cubicBezTo>
                  <a:lnTo>
                    <a:pt x="12233148" y="0"/>
                  </a:lnTo>
                  <a:lnTo>
                    <a:pt x="12233148" y="19050"/>
                  </a:lnTo>
                  <a:lnTo>
                    <a:pt x="12233148" y="0"/>
                  </a:lnTo>
                  <a:cubicBezTo>
                    <a:pt x="12539980" y="0"/>
                    <a:pt x="12788900" y="247269"/>
                    <a:pt x="12788900" y="552450"/>
                  </a:cubicBezTo>
                  <a:lnTo>
                    <a:pt x="12769850" y="552450"/>
                  </a:lnTo>
                  <a:lnTo>
                    <a:pt x="12788900" y="552450"/>
                  </a:lnTo>
                  <a:lnTo>
                    <a:pt x="12788900" y="3639312"/>
                  </a:lnTo>
                  <a:lnTo>
                    <a:pt x="12769850" y="3639312"/>
                  </a:lnTo>
                  <a:lnTo>
                    <a:pt x="12788900" y="3639312"/>
                  </a:lnTo>
                  <a:cubicBezTo>
                    <a:pt x="12788900" y="3944620"/>
                    <a:pt x="12539980" y="4191762"/>
                    <a:pt x="12233148" y="4191762"/>
                  </a:cubicBezTo>
                  <a:lnTo>
                    <a:pt x="12233148" y="4172712"/>
                  </a:lnTo>
                  <a:lnTo>
                    <a:pt x="12233148" y="4191762"/>
                  </a:lnTo>
                  <a:lnTo>
                    <a:pt x="555752" y="4191762"/>
                  </a:lnTo>
                  <a:lnTo>
                    <a:pt x="555752" y="4172712"/>
                  </a:lnTo>
                  <a:lnTo>
                    <a:pt x="555752" y="4191762"/>
                  </a:lnTo>
                  <a:cubicBezTo>
                    <a:pt x="248920" y="4191762"/>
                    <a:pt x="0" y="3944493"/>
                    <a:pt x="0" y="3639312"/>
                  </a:cubicBezTo>
                  <a:lnTo>
                    <a:pt x="0" y="552450"/>
                  </a:lnTo>
                  <a:lnTo>
                    <a:pt x="19050" y="552450"/>
                  </a:lnTo>
                  <a:lnTo>
                    <a:pt x="0" y="552450"/>
                  </a:lnTo>
                  <a:moveTo>
                    <a:pt x="38100" y="552450"/>
                  </a:moveTo>
                  <a:lnTo>
                    <a:pt x="38100" y="3639312"/>
                  </a:lnTo>
                  <a:lnTo>
                    <a:pt x="19050" y="3639312"/>
                  </a:lnTo>
                  <a:lnTo>
                    <a:pt x="38100" y="3639312"/>
                  </a:lnTo>
                  <a:cubicBezTo>
                    <a:pt x="38100" y="3923284"/>
                    <a:pt x="269748" y="4153662"/>
                    <a:pt x="555752" y="4153662"/>
                  </a:cubicBezTo>
                  <a:lnTo>
                    <a:pt x="12233148" y="4153662"/>
                  </a:lnTo>
                  <a:cubicBezTo>
                    <a:pt x="12519152" y="4153662"/>
                    <a:pt x="12750800" y="3923284"/>
                    <a:pt x="12750800" y="3639312"/>
                  </a:cubicBezTo>
                  <a:lnTo>
                    <a:pt x="12750800" y="552450"/>
                  </a:lnTo>
                  <a:cubicBezTo>
                    <a:pt x="12750800" y="268478"/>
                    <a:pt x="12519152" y="38100"/>
                    <a:pt x="12233148" y="38100"/>
                  </a:cubicBezTo>
                  <a:lnTo>
                    <a:pt x="555752" y="38100"/>
                  </a:lnTo>
                  <a:lnTo>
                    <a:pt x="555752" y="19050"/>
                  </a:lnTo>
                  <a:lnTo>
                    <a:pt x="555752" y="38100"/>
                  </a:lnTo>
                  <a:cubicBezTo>
                    <a:pt x="269748" y="38100"/>
                    <a:pt x="38100" y="268478"/>
                    <a:pt x="38100" y="552450"/>
                  </a:cubicBezTo>
                  <a:close/>
                </a:path>
              </a:pathLst>
            </a:custGeom>
            <a:solidFill>
              <a:srgbClr val="37A7E7"/>
            </a:solidFill>
          </p:spPr>
        </p:sp>
      </p:grpSp>
      <p:grpSp>
        <p:nvGrpSpPr>
          <p:cNvPr id="28" name="Group 28"/>
          <p:cNvGrpSpPr/>
          <p:nvPr/>
        </p:nvGrpSpPr>
        <p:grpSpPr>
          <a:xfrm>
            <a:off x="8086725" y="6726288"/>
            <a:ext cx="800100" cy="800100"/>
            <a:chOff x="0" y="0"/>
            <a:chExt cx="1066800" cy="10668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066800" cy="1066800"/>
            </a:xfrm>
            <a:custGeom>
              <a:avLst/>
              <a:gdLst/>
              <a:ahLst/>
              <a:cxnLst/>
              <a:rect l="l" t="t" r="r" b="b"/>
              <a:pathLst>
                <a:path w="1066800" h="1066800">
                  <a:moveTo>
                    <a:pt x="0" y="533400"/>
                  </a:moveTo>
                  <a:cubicBezTo>
                    <a:pt x="0" y="238760"/>
                    <a:pt x="238760" y="0"/>
                    <a:pt x="533400" y="0"/>
                  </a:cubicBezTo>
                  <a:cubicBezTo>
                    <a:pt x="828040" y="0"/>
                    <a:pt x="1066800" y="238760"/>
                    <a:pt x="1066800" y="533400"/>
                  </a:cubicBezTo>
                  <a:cubicBezTo>
                    <a:pt x="1066800" y="828040"/>
                    <a:pt x="828040" y="1066800"/>
                    <a:pt x="533400" y="1066800"/>
                  </a:cubicBezTo>
                  <a:cubicBezTo>
                    <a:pt x="238760" y="1066800"/>
                    <a:pt x="0" y="828040"/>
                    <a:pt x="0" y="533400"/>
                  </a:cubicBezTo>
                  <a:close/>
                </a:path>
              </a:pathLst>
            </a:custGeom>
            <a:solidFill>
              <a:srgbClr val="37A7E7"/>
            </a:solidFill>
          </p:spPr>
        </p:sp>
      </p:grpSp>
      <p:sp>
        <p:nvSpPr>
          <p:cNvPr id="30" name="Freeform 30" descr="preencoded.png"/>
          <p:cNvSpPr/>
          <p:nvPr/>
        </p:nvSpPr>
        <p:spPr>
          <a:xfrm>
            <a:off x="8306692" y="6946255"/>
            <a:ext cx="360015" cy="360015"/>
          </a:xfrm>
          <a:custGeom>
            <a:avLst/>
            <a:gdLst/>
            <a:ahLst/>
            <a:cxnLst/>
            <a:rect l="l" t="t" r="r" b="b"/>
            <a:pathLst>
              <a:path w="360015" h="360015">
                <a:moveTo>
                  <a:pt x="0" y="0"/>
                </a:moveTo>
                <a:lnTo>
                  <a:pt x="360015" y="0"/>
                </a:lnTo>
                <a:lnTo>
                  <a:pt x="360015" y="360015"/>
                </a:lnTo>
                <a:lnTo>
                  <a:pt x="0" y="36001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31" name="TextBox 31"/>
          <p:cNvSpPr txBox="1"/>
          <p:nvPr/>
        </p:nvSpPr>
        <p:spPr>
          <a:xfrm>
            <a:off x="8086725" y="7745463"/>
            <a:ext cx="7611716" cy="460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750" b="1">
                <a:solidFill>
                  <a:srgbClr val="E0E4E6"/>
                </a:solidFill>
                <a:latin typeface="Arimo Bold"/>
                <a:ea typeface="Arimo Bold"/>
                <a:cs typeface="Arimo Bold"/>
                <a:sym typeface="Arimo Bold"/>
              </a:rPr>
              <a:t>Functional and Non Functional Requirement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086725" y="8311903"/>
            <a:ext cx="8972550" cy="817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062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Functional: login, registration, and game logic.</a:t>
            </a:r>
          </a:p>
          <a:p>
            <a:pPr algn="l">
              <a:lnSpc>
                <a:spcPts val="3312"/>
              </a:lnSpc>
            </a:pPr>
            <a:r>
              <a:rPr lang="en-US" sz="2062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 Non-functional: performance, usability, and reliability.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A081B">
                <a:alpha val="56078"/>
              </a:srgbClr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77801" y="955625"/>
            <a:ext cx="9525892" cy="1535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62"/>
              </a:lnSpc>
            </a:pPr>
            <a:r>
              <a:rPr lang="en-US" sz="4875" b="1">
                <a:solidFill>
                  <a:srgbClr val="F0FCFF"/>
                </a:solidFill>
                <a:latin typeface="Arimo Bold"/>
                <a:ea typeface="Arimo Bold"/>
                <a:cs typeface="Arimo Bold"/>
                <a:sym typeface="Arimo Bold"/>
              </a:rPr>
              <a:t>Sprint 2 Goals and Achievements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382465" y="3012579"/>
            <a:ext cx="7635925" cy="307925"/>
            <a:chOff x="0" y="0"/>
            <a:chExt cx="10181233" cy="410567"/>
          </a:xfrm>
        </p:grpSpPr>
        <p:sp>
          <p:nvSpPr>
            <p:cNvPr id="8" name="Freeform 8"/>
            <p:cNvSpPr/>
            <p:nvPr/>
          </p:nvSpPr>
          <p:spPr>
            <a:xfrm>
              <a:off x="19050" y="19050"/>
              <a:ext cx="10143109" cy="372364"/>
            </a:xfrm>
            <a:custGeom>
              <a:avLst/>
              <a:gdLst/>
              <a:ahLst/>
              <a:cxnLst/>
              <a:rect l="l" t="t" r="r" b="b"/>
              <a:pathLst>
                <a:path w="10143109" h="372364">
                  <a:moveTo>
                    <a:pt x="0" y="186182"/>
                  </a:moveTo>
                  <a:cubicBezTo>
                    <a:pt x="0" y="83439"/>
                    <a:pt x="91567" y="0"/>
                    <a:pt x="204470" y="0"/>
                  </a:cubicBezTo>
                  <a:lnTo>
                    <a:pt x="9938639" y="0"/>
                  </a:lnTo>
                  <a:cubicBezTo>
                    <a:pt x="10051542" y="0"/>
                    <a:pt x="10143109" y="83439"/>
                    <a:pt x="10143109" y="186182"/>
                  </a:cubicBezTo>
                  <a:cubicBezTo>
                    <a:pt x="10143109" y="288925"/>
                    <a:pt x="10051542" y="372364"/>
                    <a:pt x="9938639" y="372364"/>
                  </a:cubicBezTo>
                  <a:lnTo>
                    <a:pt x="204470" y="372364"/>
                  </a:lnTo>
                  <a:cubicBezTo>
                    <a:pt x="91567" y="372364"/>
                    <a:pt x="0" y="288925"/>
                    <a:pt x="0" y="186182"/>
                  </a:cubicBezTo>
                  <a:close/>
                </a:path>
              </a:pathLst>
            </a:custGeom>
            <a:solidFill>
              <a:srgbClr val="0A081B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0" y="0"/>
              <a:ext cx="10181209" cy="410591"/>
            </a:xfrm>
            <a:custGeom>
              <a:avLst/>
              <a:gdLst/>
              <a:ahLst/>
              <a:cxnLst/>
              <a:rect l="l" t="t" r="r" b="b"/>
              <a:pathLst>
                <a:path w="10181209" h="410591">
                  <a:moveTo>
                    <a:pt x="0" y="205232"/>
                  </a:moveTo>
                  <a:cubicBezTo>
                    <a:pt x="0" y="90297"/>
                    <a:pt x="101854" y="0"/>
                    <a:pt x="223520" y="0"/>
                  </a:cubicBezTo>
                  <a:lnTo>
                    <a:pt x="9957689" y="0"/>
                  </a:lnTo>
                  <a:lnTo>
                    <a:pt x="9957689" y="19050"/>
                  </a:lnTo>
                  <a:lnTo>
                    <a:pt x="9957689" y="0"/>
                  </a:lnTo>
                  <a:cubicBezTo>
                    <a:pt x="10079482" y="0"/>
                    <a:pt x="10181209" y="90297"/>
                    <a:pt x="10181209" y="205232"/>
                  </a:cubicBezTo>
                  <a:lnTo>
                    <a:pt x="10162159" y="205232"/>
                  </a:lnTo>
                  <a:lnTo>
                    <a:pt x="10181209" y="205232"/>
                  </a:lnTo>
                  <a:lnTo>
                    <a:pt x="10162159" y="205232"/>
                  </a:lnTo>
                  <a:lnTo>
                    <a:pt x="10181209" y="205232"/>
                  </a:lnTo>
                  <a:cubicBezTo>
                    <a:pt x="10181209" y="320294"/>
                    <a:pt x="10079355" y="410464"/>
                    <a:pt x="9957689" y="410464"/>
                  </a:cubicBezTo>
                  <a:lnTo>
                    <a:pt x="9957689" y="391414"/>
                  </a:lnTo>
                  <a:lnTo>
                    <a:pt x="9957689" y="410464"/>
                  </a:lnTo>
                  <a:lnTo>
                    <a:pt x="223520" y="410464"/>
                  </a:lnTo>
                  <a:lnTo>
                    <a:pt x="223520" y="391414"/>
                  </a:lnTo>
                  <a:lnTo>
                    <a:pt x="223520" y="410464"/>
                  </a:lnTo>
                  <a:cubicBezTo>
                    <a:pt x="101854" y="410591"/>
                    <a:pt x="0" y="320294"/>
                    <a:pt x="0" y="205232"/>
                  </a:cubicBezTo>
                  <a:moveTo>
                    <a:pt x="38100" y="205232"/>
                  </a:moveTo>
                  <a:lnTo>
                    <a:pt x="19050" y="205232"/>
                  </a:lnTo>
                  <a:lnTo>
                    <a:pt x="38100" y="205232"/>
                  </a:lnTo>
                  <a:cubicBezTo>
                    <a:pt x="38100" y="295910"/>
                    <a:pt x="119380" y="372364"/>
                    <a:pt x="223520" y="372364"/>
                  </a:cubicBezTo>
                  <a:lnTo>
                    <a:pt x="9957689" y="372364"/>
                  </a:lnTo>
                  <a:cubicBezTo>
                    <a:pt x="10061829" y="372364"/>
                    <a:pt x="10143109" y="295910"/>
                    <a:pt x="10143109" y="205232"/>
                  </a:cubicBezTo>
                  <a:cubicBezTo>
                    <a:pt x="10143109" y="114554"/>
                    <a:pt x="10061829" y="38100"/>
                    <a:pt x="9957689" y="38100"/>
                  </a:cubicBezTo>
                  <a:lnTo>
                    <a:pt x="223520" y="38100"/>
                  </a:lnTo>
                  <a:lnTo>
                    <a:pt x="223520" y="19050"/>
                  </a:lnTo>
                  <a:lnTo>
                    <a:pt x="223520" y="38100"/>
                  </a:lnTo>
                  <a:cubicBezTo>
                    <a:pt x="119380" y="38100"/>
                    <a:pt x="38100" y="114554"/>
                    <a:pt x="38100" y="205232"/>
                  </a:cubicBezTo>
                  <a:close/>
                </a:path>
              </a:pathLst>
            </a:custGeom>
            <a:solidFill>
              <a:srgbClr val="16FFBB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963514" y="2733154"/>
            <a:ext cx="866626" cy="866626"/>
            <a:chOff x="0" y="0"/>
            <a:chExt cx="1155502" cy="1155502"/>
          </a:xfrm>
        </p:grpSpPr>
        <p:sp>
          <p:nvSpPr>
            <p:cNvPr id="11" name="Freeform 11"/>
            <p:cNvSpPr/>
            <p:nvPr/>
          </p:nvSpPr>
          <p:spPr>
            <a:xfrm>
              <a:off x="19050" y="19050"/>
              <a:ext cx="1117346" cy="1117346"/>
            </a:xfrm>
            <a:custGeom>
              <a:avLst/>
              <a:gdLst/>
              <a:ahLst/>
              <a:cxnLst/>
              <a:rect l="l" t="t" r="r" b="b"/>
              <a:pathLst>
                <a:path w="1117346" h="1117346">
                  <a:moveTo>
                    <a:pt x="0" y="558673"/>
                  </a:moveTo>
                  <a:cubicBezTo>
                    <a:pt x="0" y="250190"/>
                    <a:pt x="250190" y="0"/>
                    <a:pt x="558673" y="0"/>
                  </a:cubicBezTo>
                  <a:cubicBezTo>
                    <a:pt x="867156" y="0"/>
                    <a:pt x="1117346" y="250190"/>
                    <a:pt x="1117346" y="558673"/>
                  </a:cubicBezTo>
                  <a:cubicBezTo>
                    <a:pt x="1117346" y="867156"/>
                    <a:pt x="867283" y="1117346"/>
                    <a:pt x="558673" y="1117346"/>
                  </a:cubicBezTo>
                  <a:cubicBezTo>
                    <a:pt x="250063" y="1117346"/>
                    <a:pt x="0" y="867283"/>
                    <a:pt x="0" y="558673"/>
                  </a:cubicBezTo>
                  <a:close/>
                </a:path>
              </a:pathLst>
            </a:custGeom>
            <a:solidFill>
              <a:srgbClr val="0A081B"/>
            </a:solidFill>
          </p:spPr>
        </p:sp>
        <p:sp>
          <p:nvSpPr>
            <p:cNvPr id="12" name="Freeform 12"/>
            <p:cNvSpPr/>
            <p:nvPr/>
          </p:nvSpPr>
          <p:spPr>
            <a:xfrm>
              <a:off x="0" y="0"/>
              <a:ext cx="1155446" cy="1155446"/>
            </a:xfrm>
            <a:custGeom>
              <a:avLst/>
              <a:gdLst/>
              <a:ahLst/>
              <a:cxnLst/>
              <a:rect l="l" t="t" r="r" b="b"/>
              <a:pathLst>
                <a:path w="1155446" h="1155446">
                  <a:moveTo>
                    <a:pt x="0" y="577723"/>
                  </a:moveTo>
                  <a:cubicBezTo>
                    <a:pt x="0" y="258699"/>
                    <a:pt x="258699" y="0"/>
                    <a:pt x="577723" y="0"/>
                  </a:cubicBezTo>
                  <a:cubicBezTo>
                    <a:pt x="581279" y="0"/>
                    <a:pt x="584835" y="1016"/>
                    <a:pt x="587756" y="2921"/>
                  </a:cubicBezTo>
                  <a:lnTo>
                    <a:pt x="577723" y="19050"/>
                  </a:lnTo>
                  <a:lnTo>
                    <a:pt x="577723" y="0"/>
                  </a:lnTo>
                  <a:lnTo>
                    <a:pt x="577723" y="19050"/>
                  </a:lnTo>
                  <a:lnTo>
                    <a:pt x="577723" y="0"/>
                  </a:lnTo>
                  <a:cubicBezTo>
                    <a:pt x="896874" y="0"/>
                    <a:pt x="1155446" y="258699"/>
                    <a:pt x="1155446" y="577723"/>
                  </a:cubicBezTo>
                  <a:cubicBezTo>
                    <a:pt x="1155446" y="582803"/>
                    <a:pt x="1153414" y="587629"/>
                    <a:pt x="1149858" y="591185"/>
                  </a:cubicBezTo>
                  <a:lnTo>
                    <a:pt x="1136396" y="577723"/>
                  </a:lnTo>
                  <a:lnTo>
                    <a:pt x="1155446" y="577723"/>
                  </a:lnTo>
                  <a:cubicBezTo>
                    <a:pt x="1155446" y="896747"/>
                    <a:pt x="896747" y="1155446"/>
                    <a:pt x="577723" y="1155446"/>
                  </a:cubicBezTo>
                  <a:lnTo>
                    <a:pt x="577723" y="1136396"/>
                  </a:lnTo>
                  <a:lnTo>
                    <a:pt x="577723" y="1155446"/>
                  </a:lnTo>
                  <a:cubicBezTo>
                    <a:pt x="258699" y="1155446"/>
                    <a:pt x="0" y="896874"/>
                    <a:pt x="0" y="577723"/>
                  </a:cubicBezTo>
                  <a:lnTo>
                    <a:pt x="19050" y="577723"/>
                  </a:lnTo>
                  <a:lnTo>
                    <a:pt x="0" y="577723"/>
                  </a:lnTo>
                  <a:moveTo>
                    <a:pt x="38100" y="577723"/>
                  </a:moveTo>
                  <a:lnTo>
                    <a:pt x="19050" y="577723"/>
                  </a:lnTo>
                  <a:lnTo>
                    <a:pt x="38100" y="577723"/>
                  </a:lnTo>
                  <a:cubicBezTo>
                    <a:pt x="38100" y="875792"/>
                    <a:pt x="279654" y="1117346"/>
                    <a:pt x="577723" y="1117346"/>
                  </a:cubicBezTo>
                  <a:cubicBezTo>
                    <a:pt x="875792" y="1117346"/>
                    <a:pt x="1117346" y="875792"/>
                    <a:pt x="1117346" y="577723"/>
                  </a:cubicBezTo>
                  <a:cubicBezTo>
                    <a:pt x="1117346" y="572643"/>
                    <a:pt x="1119378" y="567817"/>
                    <a:pt x="1122934" y="564261"/>
                  </a:cubicBezTo>
                  <a:lnTo>
                    <a:pt x="1136396" y="577723"/>
                  </a:lnTo>
                  <a:lnTo>
                    <a:pt x="1117346" y="577723"/>
                  </a:lnTo>
                  <a:cubicBezTo>
                    <a:pt x="1117346" y="279654"/>
                    <a:pt x="875792" y="38100"/>
                    <a:pt x="577723" y="38100"/>
                  </a:cubicBezTo>
                  <a:cubicBezTo>
                    <a:pt x="574167" y="38100"/>
                    <a:pt x="570611" y="37084"/>
                    <a:pt x="567690" y="35179"/>
                  </a:cubicBezTo>
                  <a:lnTo>
                    <a:pt x="577723" y="19050"/>
                  </a:lnTo>
                  <a:lnTo>
                    <a:pt x="577723" y="38100"/>
                  </a:lnTo>
                  <a:cubicBezTo>
                    <a:pt x="279654" y="38100"/>
                    <a:pt x="38100" y="279654"/>
                    <a:pt x="38100" y="577723"/>
                  </a:cubicBezTo>
                  <a:close/>
                </a:path>
              </a:pathLst>
            </a:custGeom>
            <a:solidFill>
              <a:srgbClr val="16FFBB"/>
            </a:solidFill>
          </p:spPr>
        </p:sp>
      </p:grpSp>
      <p:sp>
        <p:nvSpPr>
          <p:cNvPr id="13" name="Freeform 13" descr="preencoded.png"/>
          <p:cNvSpPr/>
          <p:nvPr/>
        </p:nvSpPr>
        <p:spPr>
          <a:xfrm>
            <a:off x="1187351" y="2956991"/>
            <a:ext cx="418951" cy="418951"/>
          </a:xfrm>
          <a:custGeom>
            <a:avLst/>
            <a:gdLst/>
            <a:ahLst/>
            <a:cxnLst/>
            <a:rect l="l" t="t" r="r" b="b"/>
            <a:pathLst>
              <a:path w="418951" h="418951">
                <a:moveTo>
                  <a:pt x="0" y="0"/>
                </a:moveTo>
                <a:lnTo>
                  <a:pt x="418951" y="0"/>
                </a:lnTo>
                <a:lnTo>
                  <a:pt x="418951" y="418952"/>
                </a:lnTo>
                <a:lnTo>
                  <a:pt x="0" y="41895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3409" r="-3409"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257151" y="3836342"/>
            <a:ext cx="5067449" cy="4301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874" b="1" dirty="0">
                <a:solidFill>
                  <a:srgbClr val="E0E4E6"/>
                </a:solidFill>
                <a:latin typeface="Arimo Bold"/>
                <a:ea typeface="Arimo Bold"/>
                <a:cs typeface="Arimo Bold"/>
                <a:sym typeface="Arimo Bold"/>
              </a:rPr>
              <a:t>Login and Registration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57151" y="4402782"/>
            <a:ext cx="7467749" cy="8415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187" dirty="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Implemented login and registration system using firebase as a database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9688265" y="2593628"/>
            <a:ext cx="7636074" cy="307925"/>
            <a:chOff x="0" y="0"/>
            <a:chExt cx="10181432" cy="410567"/>
          </a:xfrm>
        </p:grpSpPr>
        <p:sp>
          <p:nvSpPr>
            <p:cNvPr id="17" name="Freeform 17"/>
            <p:cNvSpPr/>
            <p:nvPr/>
          </p:nvSpPr>
          <p:spPr>
            <a:xfrm>
              <a:off x="19050" y="19050"/>
              <a:ext cx="10143236" cy="372364"/>
            </a:xfrm>
            <a:custGeom>
              <a:avLst/>
              <a:gdLst/>
              <a:ahLst/>
              <a:cxnLst/>
              <a:rect l="l" t="t" r="r" b="b"/>
              <a:pathLst>
                <a:path w="10143236" h="372364">
                  <a:moveTo>
                    <a:pt x="0" y="186182"/>
                  </a:moveTo>
                  <a:cubicBezTo>
                    <a:pt x="0" y="83439"/>
                    <a:pt x="91567" y="0"/>
                    <a:pt x="204470" y="0"/>
                  </a:cubicBezTo>
                  <a:lnTo>
                    <a:pt x="9938766" y="0"/>
                  </a:lnTo>
                  <a:cubicBezTo>
                    <a:pt x="10051669" y="0"/>
                    <a:pt x="10143236" y="83439"/>
                    <a:pt x="10143236" y="186182"/>
                  </a:cubicBezTo>
                  <a:cubicBezTo>
                    <a:pt x="10143236" y="288925"/>
                    <a:pt x="10051669" y="372364"/>
                    <a:pt x="9938766" y="372364"/>
                  </a:cubicBezTo>
                  <a:lnTo>
                    <a:pt x="204470" y="372364"/>
                  </a:lnTo>
                  <a:cubicBezTo>
                    <a:pt x="91567" y="372364"/>
                    <a:pt x="0" y="288925"/>
                    <a:pt x="0" y="186182"/>
                  </a:cubicBezTo>
                  <a:close/>
                </a:path>
              </a:pathLst>
            </a:custGeom>
            <a:solidFill>
              <a:srgbClr val="0A081B"/>
            </a:solidFill>
          </p:spPr>
        </p:sp>
        <p:sp>
          <p:nvSpPr>
            <p:cNvPr id="18" name="Freeform 18"/>
            <p:cNvSpPr/>
            <p:nvPr/>
          </p:nvSpPr>
          <p:spPr>
            <a:xfrm>
              <a:off x="0" y="0"/>
              <a:ext cx="10181336" cy="410591"/>
            </a:xfrm>
            <a:custGeom>
              <a:avLst/>
              <a:gdLst/>
              <a:ahLst/>
              <a:cxnLst/>
              <a:rect l="l" t="t" r="r" b="b"/>
              <a:pathLst>
                <a:path w="10181336" h="410591">
                  <a:moveTo>
                    <a:pt x="0" y="205232"/>
                  </a:moveTo>
                  <a:cubicBezTo>
                    <a:pt x="0" y="90297"/>
                    <a:pt x="101854" y="0"/>
                    <a:pt x="223520" y="0"/>
                  </a:cubicBezTo>
                  <a:lnTo>
                    <a:pt x="9957816" y="0"/>
                  </a:lnTo>
                  <a:lnTo>
                    <a:pt x="9957816" y="19050"/>
                  </a:lnTo>
                  <a:lnTo>
                    <a:pt x="9957816" y="0"/>
                  </a:lnTo>
                  <a:cubicBezTo>
                    <a:pt x="10079610" y="0"/>
                    <a:pt x="10181336" y="90297"/>
                    <a:pt x="10181336" y="205232"/>
                  </a:cubicBezTo>
                  <a:lnTo>
                    <a:pt x="10162286" y="205232"/>
                  </a:lnTo>
                  <a:lnTo>
                    <a:pt x="10181336" y="205232"/>
                  </a:lnTo>
                  <a:lnTo>
                    <a:pt x="10162286" y="205232"/>
                  </a:lnTo>
                  <a:lnTo>
                    <a:pt x="10181336" y="205232"/>
                  </a:lnTo>
                  <a:cubicBezTo>
                    <a:pt x="10181336" y="320294"/>
                    <a:pt x="10079482" y="410464"/>
                    <a:pt x="9957816" y="410464"/>
                  </a:cubicBezTo>
                  <a:lnTo>
                    <a:pt x="9957816" y="391414"/>
                  </a:lnTo>
                  <a:lnTo>
                    <a:pt x="9957816" y="410464"/>
                  </a:lnTo>
                  <a:lnTo>
                    <a:pt x="223520" y="410464"/>
                  </a:lnTo>
                  <a:lnTo>
                    <a:pt x="223520" y="391414"/>
                  </a:lnTo>
                  <a:lnTo>
                    <a:pt x="223520" y="410464"/>
                  </a:lnTo>
                  <a:cubicBezTo>
                    <a:pt x="101854" y="410591"/>
                    <a:pt x="0" y="320294"/>
                    <a:pt x="0" y="205232"/>
                  </a:cubicBezTo>
                  <a:moveTo>
                    <a:pt x="38100" y="205232"/>
                  </a:moveTo>
                  <a:lnTo>
                    <a:pt x="19050" y="205232"/>
                  </a:lnTo>
                  <a:lnTo>
                    <a:pt x="38100" y="205232"/>
                  </a:lnTo>
                  <a:cubicBezTo>
                    <a:pt x="38100" y="295910"/>
                    <a:pt x="119380" y="372364"/>
                    <a:pt x="223520" y="372364"/>
                  </a:cubicBezTo>
                  <a:lnTo>
                    <a:pt x="9957816" y="372364"/>
                  </a:lnTo>
                  <a:cubicBezTo>
                    <a:pt x="10061956" y="372364"/>
                    <a:pt x="10143236" y="295910"/>
                    <a:pt x="10143236" y="205232"/>
                  </a:cubicBezTo>
                  <a:cubicBezTo>
                    <a:pt x="10143236" y="114554"/>
                    <a:pt x="10061956" y="38100"/>
                    <a:pt x="9957816" y="38100"/>
                  </a:cubicBezTo>
                  <a:lnTo>
                    <a:pt x="223520" y="38100"/>
                  </a:lnTo>
                  <a:lnTo>
                    <a:pt x="223520" y="19050"/>
                  </a:lnTo>
                  <a:lnTo>
                    <a:pt x="223520" y="38100"/>
                  </a:lnTo>
                  <a:cubicBezTo>
                    <a:pt x="119380" y="38100"/>
                    <a:pt x="38100" y="114554"/>
                    <a:pt x="38100" y="205232"/>
                  </a:cubicBezTo>
                  <a:close/>
                </a:path>
              </a:pathLst>
            </a:custGeom>
            <a:solidFill>
              <a:srgbClr val="29DDDA"/>
            </a:solidFill>
          </p:spPr>
        </p:sp>
      </p:grpSp>
      <p:grpSp>
        <p:nvGrpSpPr>
          <p:cNvPr id="19" name="Group 19"/>
          <p:cNvGrpSpPr/>
          <p:nvPr/>
        </p:nvGrpSpPr>
        <p:grpSpPr>
          <a:xfrm>
            <a:off x="9269314" y="2314202"/>
            <a:ext cx="866626" cy="866626"/>
            <a:chOff x="0" y="0"/>
            <a:chExt cx="1155502" cy="1155502"/>
          </a:xfrm>
        </p:grpSpPr>
        <p:sp>
          <p:nvSpPr>
            <p:cNvPr id="20" name="Freeform 20"/>
            <p:cNvSpPr/>
            <p:nvPr/>
          </p:nvSpPr>
          <p:spPr>
            <a:xfrm>
              <a:off x="19050" y="19050"/>
              <a:ext cx="1117346" cy="1117346"/>
            </a:xfrm>
            <a:custGeom>
              <a:avLst/>
              <a:gdLst/>
              <a:ahLst/>
              <a:cxnLst/>
              <a:rect l="l" t="t" r="r" b="b"/>
              <a:pathLst>
                <a:path w="1117346" h="1117346">
                  <a:moveTo>
                    <a:pt x="0" y="558673"/>
                  </a:moveTo>
                  <a:cubicBezTo>
                    <a:pt x="0" y="250190"/>
                    <a:pt x="250190" y="0"/>
                    <a:pt x="558673" y="0"/>
                  </a:cubicBezTo>
                  <a:cubicBezTo>
                    <a:pt x="867156" y="0"/>
                    <a:pt x="1117346" y="250190"/>
                    <a:pt x="1117346" y="558673"/>
                  </a:cubicBezTo>
                  <a:cubicBezTo>
                    <a:pt x="1117346" y="867156"/>
                    <a:pt x="867283" y="1117346"/>
                    <a:pt x="558673" y="1117346"/>
                  </a:cubicBezTo>
                  <a:cubicBezTo>
                    <a:pt x="250063" y="1117346"/>
                    <a:pt x="0" y="867283"/>
                    <a:pt x="0" y="558673"/>
                  </a:cubicBezTo>
                  <a:close/>
                </a:path>
              </a:pathLst>
            </a:custGeom>
            <a:solidFill>
              <a:srgbClr val="0A081B"/>
            </a:solidFill>
          </p:spPr>
        </p:sp>
        <p:sp>
          <p:nvSpPr>
            <p:cNvPr id="21" name="Freeform 21"/>
            <p:cNvSpPr/>
            <p:nvPr/>
          </p:nvSpPr>
          <p:spPr>
            <a:xfrm>
              <a:off x="0" y="0"/>
              <a:ext cx="1155446" cy="1155446"/>
            </a:xfrm>
            <a:custGeom>
              <a:avLst/>
              <a:gdLst/>
              <a:ahLst/>
              <a:cxnLst/>
              <a:rect l="l" t="t" r="r" b="b"/>
              <a:pathLst>
                <a:path w="1155446" h="1155446">
                  <a:moveTo>
                    <a:pt x="0" y="577723"/>
                  </a:moveTo>
                  <a:cubicBezTo>
                    <a:pt x="0" y="258699"/>
                    <a:pt x="258699" y="0"/>
                    <a:pt x="577723" y="0"/>
                  </a:cubicBezTo>
                  <a:cubicBezTo>
                    <a:pt x="581279" y="0"/>
                    <a:pt x="584835" y="1016"/>
                    <a:pt x="587756" y="2921"/>
                  </a:cubicBezTo>
                  <a:lnTo>
                    <a:pt x="577723" y="19050"/>
                  </a:lnTo>
                  <a:lnTo>
                    <a:pt x="577723" y="0"/>
                  </a:lnTo>
                  <a:lnTo>
                    <a:pt x="577723" y="19050"/>
                  </a:lnTo>
                  <a:lnTo>
                    <a:pt x="577723" y="0"/>
                  </a:lnTo>
                  <a:cubicBezTo>
                    <a:pt x="896874" y="0"/>
                    <a:pt x="1155446" y="258699"/>
                    <a:pt x="1155446" y="577723"/>
                  </a:cubicBezTo>
                  <a:cubicBezTo>
                    <a:pt x="1155446" y="582803"/>
                    <a:pt x="1153414" y="587629"/>
                    <a:pt x="1149858" y="591185"/>
                  </a:cubicBezTo>
                  <a:lnTo>
                    <a:pt x="1136396" y="577723"/>
                  </a:lnTo>
                  <a:lnTo>
                    <a:pt x="1155446" y="577723"/>
                  </a:lnTo>
                  <a:cubicBezTo>
                    <a:pt x="1155446" y="896747"/>
                    <a:pt x="896747" y="1155446"/>
                    <a:pt x="577723" y="1155446"/>
                  </a:cubicBezTo>
                  <a:lnTo>
                    <a:pt x="577723" y="1136396"/>
                  </a:lnTo>
                  <a:lnTo>
                    <a:pt x="577723" y="1155446"/>
                  </a:lnTo>
                  <a:cubicBezTo>
                    <a:pt x="258699" y="1155446"/>
                    <a:pt x="0" y="896874"/>
                    <a:pt x="0" y="577723"/>
                  </a:cubicBezTo>
                  <a:lnTo>
                    <a:pt x="19050" y="577723"/>
                  </a:lnTo>
                  <a:lnTo>
                    <a:pt x="0" y="577723"/>
                  </a:lnTo>
                  <a:moveTo>
                    <a:pt x="38100" y="577723"/>
                  </a:moveTo>
                  <a:lnTo>
                    <a:pt x="19050" y="577723"/>
                  </a:lnTo>
                  <a:lnTo>
                    <a:pt x="38100" y="577723"/>
                  </a:lnTo>
                  <a:cubicBezTo>
                    <a:pt x="38100" y="875792"/>
                    <a:pt x="279654" y="1117346"/>
                    <a:pt x="577723" y="1117346"/>
                  </a:cubicBezTo>
                  <a:cubicBezTo>
                    <a:pt x="875792" y="1117346"/>
                    <a:pt x="1117346" y="875792"/>
                    <a:pt x="1117346" y="577723"/>
                  </a:cubicBezTo>
                  <a:cubicBezTo>
                    <a:pt x="1117346" y="572643"/>
                    <a:pt x="1119378" y="567817"/>
                    <a:pt x="1122934" y="564261"/>
                  </a:cubicBezTo>
                  <a:lnTo>
                    <a:pt x="1136396" y="577723"/>
                  </a:lnTo>
                  <a:lnTo>
                    <a:pt x="1117346" y="577723"/>
                  </a:lnTo>
                  <a:cubicBezTo>
                    <a:pt x="1117346" y="279654"/>
                    <a:pt x="875792" y="38100"/>
                    <a:pt x="577723" y="38100"/>
                  </a:cubicBezTo>
                  <a:cubicBezTo>
                    <a:pt x="574167" y="38100"/>
                    <a:pt x="570611" y="37084"/>
                    <a:pt x="567690" y="35179"/>
                  </a:cubicBezTo>
                  <a:lnTo>
                    <a:pt x="577723" y="19050"/>
                  </a:lnTo>
                  <a:lnTo>
                    <a:pt x="577723" y="38100"/>
                  </a:lnTo>
                  <a:cubicBezTo>
                    <a:pt x="279654" y="38100"/>
                    <a:pt x="38100" y="279654"/>
                    <a:pt x="38100" y="577723"/>
                  </a:cubicBezTo>
                  <a:close/>
                </a:path>
              </a:pathLst>
            </a:custGeom>
            <a:solidFill>
              <a:srgbClr val="29DDDA"/>
            </a:solidFill>
          </p:spPr>
        </p:sp>
      </p:grpSp>
      <p:sp>
        <p:nvSpPr>
          <p:cNvPr id="22" name="Freeform 22" descr="preencoded.png"/>
          <p:cNvSpPr/>
          <p:nvPr/>
        </p:nvSpPr>
        <p:spPr>
          <a:xfrm>
            <a:off x="9493077" y="2510996"/>
            <a:ext cx="418951" cy="418951"/>
          </a:xfrm>
          <a:custGeom>
            <a:avLst/>
            <a:gdLst/>
            <a:ahLst/>
            <a:cxnLst/>
            <a:rect l="l" t="t" r="r" b="b"/>
            <a:pathLst>
              <a:path w="418951" h="418951">
                <a:moveTo>
                  <a:pt x="0" y="0"/>
                </a:moveTo>
                <a:lnTo>
                  <a:pt x="418951" y="0"/>
                </a:lnTo>
                <a:lnTo>
                  <a:pt x="418951" y="418951"/>
                </a:lnTo>
                <a:lnTo>
                  <a:pt x="0" y="41895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10227" r="-10227"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9562951" y="3417391"/>
            <a:ext cx="3725019" cy="494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874" b="1" dirty="0">
                <a:solidFill>
                  <a:srgbClr val="E0E4E6"/>
                </a:solidFill>
                <a:latin typeface="Arimo Bold"/>
                <a:ea typeface="Arimo Bold"/>
                <a:cs typeface="Arimo Bold"/>
                <a:sym typeface="Arimo Bold"/>
              </a:rPr>
              <a:t>Player Actions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562951" y="3983831"/>
            <a:ext cx="7467897" cy="8415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187" dirty="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Functional "Hit," "Stand," and “Restart" buttons integrated with the game flow.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257151" y="8024812"/>
            <a:ext cx="7467749" cy="392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endParaRPr lang="en-US" sz="2187" dirty="0">
              <a:solidFill>
                <a:srgbClr val="E0E4E6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A081B">
                <a:alpha val="56078"/>
              </a:srgbClr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244505" y="3062596"/>
            <a:ext cx="6560861" cy="5474721"/>
            <a:chOff x="0" y="0"/>
            <a:chExt cx="10637532" cy="887650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637563" cy="8876538"/>
            </a:xfrm>
            <a:custGeom>
              <a:avLst/>
              <a:gdLst/>
              <a:ahLst/>
              <a:cxnLst/>
              <a:rect l="l" t="t" r="r" b="b"/>
              <a:pathLst>
                <a:path w="10637563" h="8876538">
                  <a:moveTo>
                    <a:pt x="0" y="0"/>
                  </a:moveTo>
                  <a:lnTo>
                    <a:pt x="10637563" y="0"/>
                  </a:lnTo>
                  <a:lnTo>
                    <a:pt x="10637563" y="8876538"/>
                  </a:lnTo>
                  <a:lnTo>
                    <a:pt x="0" y="88765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604" r="-604"/>
              </a:stretch>
            </a:blipFill>
          </p:spPr>
        </p:sp>
      </p:grpSp>
      <p:sp>
        <p:nvSpPr>
          <p:cNvPr id="8" name="Freeform 8"/>
          <p:cNvSpPr/>
          <p:nvPr/>
        </p:nvSpPr>
        <p:spPr>
          <a:xfrm>
            <a:off x="9877066" y="3062596"/>
            <a:ext cx="6265086" cy="5393205"/>
          </a:xfrm>
          <a:custGeom>
            <a:avLst/>
            <a:gdLst/>
            <a:ahLst/>
            <a:cxnLst/>
            <a:rect l="l" t="t" r="r" b="b"/>
            <a:pathLst>
              <a:path w="6265086" h="5393205">
                <a:moveTo>
                  <a:pt x="0" y="0"/>
                </a:moveTo>
                <a:lnTo>
                  <a:pt x="6265085" y="0"/>
                </a:lnTo>
                <a:lnTo>
                  <a:pt x="6265085" y="5393205"/>
                </a:lnTo>
                <a:lnTo>
                  <a:pt x="0" y="53932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539949" y="376684"/>
            <a:ext cx="7048649" cy="1537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27"/>
              </a:lnSpc>
            </a:pPr>
            <a:r>
              <a:rPr lang="en-US" sz="4800" b="1">
                <a:solidFill>
                  <a:srgbClr val="F0FCFF"/>
                </a:solidFill>
                <a:latin typeface="Arimo Bold"/>
                <a:ea typeface="Arimo Bold"/>
                <a:cs typeface="Arimo Bold"/>
                <a:sym typeface="Arimo Bold"/>
              </a:rPr>
              <a:t>Feature Demonstration: </a:t>
            </a:r>
            <a:r>
              <a:rPr lang="en-US" sz="4800" b="1">
                <a:solidFill>
                  <a:srgbClr val="29DDDA"/>
                </a:solidFill>
                <a:latin typeface="Arimo Bold"/>
                <a:ea typeface="Arimo Bold"/>
                <a:cs typeface="Arimo Bold"/>
                <a:sym typeface="Arimo Bold"/>
              </a:rPr>
              <a:t>Live Gameplay Flow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39949" y="2132313"/>
            <a:ext cx="5871196" cy="4573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83"/>
              </a:lnSpc>
            </a:pPr>
            <a:r>
              <a:rPr lang="en-US" sz="2799" b="1">
                <a:solidFill>
                  <a:srgbClr val="F0FCFF"/>
                </a:solidFill>
                <a:latin typeface="Arimo Bold"/>
                <a:ea typeface="Arimo Bold"/>
                <a:cs typeface="Arimo Bold"/>
                <a:sym typeface="Arimo Bold"/>
              </a:rPr>
              <a:t>Walkthrough Highlights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A081B">
                <a:alpha val="56078"/>
              </a:srgbClr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1028700" y="2846815"/>
            <a:ext cx="6407786" cy="7227740"/>
          </a:xfrm>
          <a:custGeom>
            <a:avLst/>
            <a:gdLst/>
            <a:ahLst/>
            <a:cxnLst/>
            <a:rect l="l" t="t" r="r" b="b"/>
            <a:pathLst>
              <a:path w="6407786" h="7227740">
                <a:moveTo>
                  <a:pt x="0" y="0"/>
                </a:moveTo>
                <a:lnTo>
                  <a:pt x="6407786" y="0"/>
                </a:lnTo>
                <a:lnTo>
                  <a:pt x="6407786" y="7227740"/>
                </a:lnTo>
                <a:lnTo>
                  <a:pt x="0" y="72277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9144000" y="94427"/>
            <a:ext cx="6821454" cy="4571199"/>
          </a:xfrm>
          <a:custGeom>
            <a:avLst/>
            <a:gdLst/>
            <a:ahLst/>
            <a:cxnLst/>
            <a:rect l="l" t="t" r="r" b="b"/>
            <a:pathLst>
              <a:path w="6821454" h="4571199">
                <a:moveTo>
                  <a:pt x="0" y="0"/>
                </a:moveTo>
                <a:lnTo>
                  <a:pt x="6821454" y="0"/>
                </a:lnTo>
                <a:lnTo>
                  <a:pt x="6821454" y="4571199"/>
                </a:lnTo>
                <a:lnTo>
                  <a:pt x="0" y="457119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9144000" y="5143500"/>
            <a:ext cx="6821454" cy="4465907"/>
          </a:xfrm>
          <a:custGeom>
            <a:avLst/>
            <a:gdLst/>
            <a:ahLst/>
            <a:cxnLst/>
            <a:rect l="l" t="t" r="r" b="b"/>
            <a:pathLst>
              <a:path w="6821454" h="4465907">
                <a:moveTo>
                  <a:pt x="0" y="0"/>
                </a:moveTo>
                <a:lnTo>
                  <a:pt x="6821454" y="0"/>
                </a:lnTo>
                <a:lnTo>
                  <a:pt x="6821454" y="4465907"/>
                </a:lnTo>
                <a:lnTo>
                  <a:pt x="0" y="446590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539949" y="376684"/>
            <a:ext cx="7048649" cy="1537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27"/>
              </a:lnSpc>
            </a:pPr>
            <a:r>
              <a:rPr lang="en-US" sz="4800" b="1">
                <a:solidFill>
                  <a:srgbClr val="F0FCFF"/>
                </a:solidFill>
                <a:latin typeface="Arimo Bold"/>
                <a:ea typeface="Arimo Bold"/>
                <a:cs typeface="Arimo Bold"/>
                <a:sym typeface="Arimo Bold"/>
              </a:rPr>
              <a:t>Feature Demonstration: </a:t>
            </a:r>
            <a:r>
              <a:rPr lang="en-US" sz="4800" b="1">
                <a:solidFill>
                  <a:srgbClr val="29DDDA"/>
                </a:solidFill>
                <a:latin typeface="Arimo Bold"/>
                <a:ea typeface="Arimo Bold"/>
                <a:cs typeface="Arimo Bold"/>
                <a:sym typeface="Arimo Bold"/>
              </a:rPr>
              <a:t>Live Gameplay Flow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39949" y="2132313"/>
            <a:ext cx="5871196" cy="4573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83"/>
              </a:lnSpc>
            </a:pPr>
            <a:r>
              <a:rPr lang="en-US" sz="2799" b="1">
                <a:solidFill>
                  <a:srgbClr val="F0FCFF"/>
                </a:solidFill>
                <a:latin typeface="Arimo Bold"/>
                <a:ea typeface="Arimo Bold"/>
                <a:cs typeface="Arimo Bold"/>
                <a:sym typeface="Arimo Bold"/>
              </a:rPr>
              <a:t>Walkthrough Highlights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A081B">
                <a:alpha val="56078"/>
              </a:srgbClr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728663" y="534441"/>
            <a:ext cx="9435421" cy="7193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86"/>
              </a:lnSpc>
            </a:pPr>
            <a:r>
              <a:rPr lang="en-US" sz="4500" b="1">
                <a:solidFill>
                  <a:srgbClr val="F0FCFF"/>
                </a:solidFill>
                <a:latin typeface="Arimo Bold"/>
                <a:ea typeface="Arimo Bold"/>
                <a:cs typeface="Arimo Bold"/>
                <a:sym typeface="Arimo Bold"/>
              </a:rPr>
              <a:t>Technical Implementation Details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698748" y="1538734"/>
            <a:ext cx="5499944" cy="1915417"/>
            <a:chOff x="0" y="0"/>
            <a:chExt cx="7333258" cy="2553890"/>
          </a:xfrm>
        </p:grpSpPr>
        <p:sp>
          <p:nvSpPr>
            <p:cNvPr id="8" name="Freeform 8"/>
            <p:cNvSpPr/>
            <p:nvPr/>
          </p:nvSpPr>
          <p:spPr>
            <a:xfrm>
              <a:off x="19050" y="19050"/>
              <a:ext cx="7295134" cy="2515743"/>
            </a:xfrm>
            <a:custGeom>
              <a:avLst/>
              <a:gdLst/>
              <a:ahLst/>
              <a:cxnLst/>
              <a:rect l="l" t="t" r="r" b="b"/>
              <a:pathLst>
                <a:path w="7295134" h="2515743">
                  <a:moveTo>
                    <a:pt x="0" y="182880"/>
                  </a:moveTo>
                  <a:cubicBezTo>
                    <a:pt x="0" y="81915"/>
                    <a:pt x="82677" y="0"/>
                    <a:pt x="184658" y="0"/>
                  </a:cubicBezTo>
                  <a:lnTo>
                    <a:pt x="7110476" y="0"/>
                  </a:lnTo>
                  <a:cubicBezTo>
                    <a:pt x="7212457" y="0"/>
                    <a:pt x="7295134" y="81915"/>
                    <a:pt x="7295134" y="182880"/>
                  </a:cubicBezTo>
                  <a:lnTo>
                    <a:pt x="7295134" y="2332863"/>
                  </a:lnTo>
                  <a:cubicBezTo>
                    <a:pt x="7295134" y="2433828"/>
                    <a:pt x="7212457" y="2515743"/>
                    <a:pt x="7110476" y="2515743"/>
                  </a:cubicBezTo>
                  <a:lnTo>
                    <a:pt x="184658" y="2515743"/>
                  </a:lnTo>
                  <a:cubicBezTo>
                    <a:pt x="82677" y="2515743"/>
                    <a:pt x="0" y="2433828"/>
                    <a:pt x="0" y="2332863"/>
                  </a:cubicBezTo>
                  <a:close/>
                </a:path>
              </a:pathLst>
            </a:custGeom>
            <a:solidFill>
              <a:srgbClr val="0A081B">
                <a:alpha val="56078"/>
              </a:srgbClr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0" y="0"/>
              <a:ext cx="7333234" cy="2553843"/>
            </a:xfrm>
            <a:custGeom>
              <a:avLst/>
              <a:gdLst/>
              <a:ahLst/>
              <a:cxnLst/>
              <a:rect l="l" t="t" r="r" b="b"/>
              <a:pathLst>
                <a:path w="7333234" h="2553843">
                  <a:moveTo>
                    <a:pt x="0" y="201930"/>
                  </a:moveTo>
                  <a:cubicBezTo>
                    <a:pt x="0" y="90170"/>
                    <a:pt x="91440" y="0"/>
                    <a:pt x="203708" y="0"/>
                  </a:cubicBezTo>
                  <a:lnTo>
                    <a:pt x="7129526" y="0"/>
                  </a:lnTo>
                  <a:lnTo>
                    <a:pt x="7129526" y="19050"/>
                  </a:lnTo>
                  <a:lnTo>
                    <a:pt x="7129526" y="0"/>
                  </a:lnTo>
                  <a:cubicBezTo>
                    <a:pt x="7241921" y="0"/>
                    <a:pt x="7333234" y="90170"/>
                    <a:pt x="7333234" y="201930"/>
                  </a:cubicBezTo>
                  <a:lnTo>
                    <a:pt x="7314184" y="201930"/>
                  </a:lnTo>
                  <a:lnTo>
                    <a:pt x="7333234" y="201930"/>
                  </a:lnTo>
                  <a:lnTo>
                    <a:pt x="7333234" y="2351913"/>
                  </a:lnTo>
                  <a:lnTo>
                    <a:pt x="7314184" y="2351913"/>
                  </a:lnTo>
                  <a:lnTo>
                    <a:pt x="7333234" y="2351913"/>
                  </a:lnTo>
                  <a:cubicBezTo>
                    <a:pt x="7333234" y="2463546"/>
                    <a:pt x="7241794" y="2553843"/>
                    <a:pt x="7129526" y="2553843"/>
                  </a:cubicBezTo>
                  <a:lnTo>
                    <a:pt x="7129526" y="2534793"/>
                  </a:lnTo>
                  <a:lnTo>
                    <a:pt x="7129526" y="2553843"/>
                  </a:lnTo>
                  <a:lnTo>
                    <a:pt x="203708" y="2553843"/>
                  </a:lnTo>
                  <a:lnTo>
                    <a:pt x="203708" y="2534793"/>
                  </a:lnTo>
                  <a:lnTo>
                    <a:pt x="203708" y="2553843"/>
                  </a:lnTo>
                  <a:cubicBezTo>
                    <a:pt x="91440" y="2553843"/>
                    <a:pt x="0" y="2463673"/>
                    <a:pt x="0" y="2351913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2351913"/>
                  </a:lnTo>
                  <a:lnTo>
                    <a:pt x="19050" y="2351913"/>
                  </a:lnTo>
                  <a:lnTo>
                    <a:pt x="38100" y="2351913"/>
                  </a:lnTo>
                  <a:cubicBezTo>
                    <a:pt x="38100" y="2442210"/>
                    <a:pt x="112014" y="2515743"/>
                    <a:pt x="203708" y="2515743"/>
                  </a:cubicBezTo>
                  <a:lnTo>
                    <a:pt x="7129526" y="2515743"/>
                  </a:lnTo>
                  <a:cubicBezTo>
                    <a:pt x="7221220" y="2515743"/>
                    <a:pt x="7295134" y="2442210"/>
                    <a:pt x="7295134" y="2351913"/>
                  </a:cubicBezTo>
                  <a:lnTo>
                    <a:pt x="7295134" y="201930"/>
                  </a:lnTo>
                  <a:cubicBezTo>
                    <a:pt x="7295134" y="111633"/>
                    <a:pt x="7221220" y="38100"/>
                    <a:pt x="7129526" y="38100"/>
                  </a:cubicBezTo>
                  <a:lnTo>
                    <a:pt x="203708" y="38100"/>
                  </a:lnTo>
                  <a:lnTo>
                    <a:pt x="203708" y="19050"/>
                  </a:lnTo>
                  <a:lnTo>
                    <a:pt x="203708" y="38100"/>
                  </a:lnTo>
                  <a:cubicBezTo>
                    <a:pt x="112014" y="38100"/>
                    <a:pt x="38100" y="111633"/>
                    <a:pt x="38100" y="201930"/>
                  </a:cubicBezTo>
                  <a:close/>
                </a:path>
              </a:pathLst>
            </a:custGeom>
            <a:solidFill>
              <a:srgbClr val="16FFBB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700088" y="1567309"/>
            <a:ext cx="114300" cy="1886842"/>
            <a:chOff x="0" y="0"/>
            <a:chExt cx="152400" cy="251579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52400" cy="2515743"/>
            </a:xfrm>
            <a:custGeom>
              <a:avLst/>
              <a:gdLst/>
              <a:ahLst/>
              <a:cxnLst/>
              <a:rect l="l" t="t" r="r" b="b"/>
              <a:pathLst>
                <a:path w="152400" h="2515743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lnTo>
                    <a:pt x="152400" y="2439543"/>
                  </a:lnTo>
                  <a:cubicBezTo>
                    <a:pt x="152400" y="2481580"/>
                    <a:pt x="118237" y="2515743"/>
                    <a:pt x="76200" y="2515743"/>
                  </a:cubicBezTo>
                  <a:cubicBezTo>
                    <a:pt x="34163" y="2515743"/>
                    <a:pt x="0" y="2481580"/>
                    <a:pt x="0" y="2439543"/>
                  </a:cubicBezTo>
                  <a:close/>
                </a:path>
              </a:pathLst>
            </a:custGeom>
            <a:solidFill>
              <a:srgbClr val="16FFBB"/>
            </a:solidFill>
          </p:spPr>
        </p:sp>
      </p:grpSp>
      <p:sp>
        <p:nvSpPr>
          <p:cNvPr id="12" name="TextBox 12"/>
          <p:cNvSpPr txBox="1"/>
          <p:nvPr/>
        </p:nvSpPr>
        <p:spPr>
          <a:xfrm>
            <a:off x="1051172" y="1775520"/>
            <a:ext cx="2313534" cy="3177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9"/>
              </a:lnSpc>
            </a:pPr>
            <a:r>
              <a:rPr lang="en-US" sz="1812" b="1">
                <a:solidFill>
                  <a:srgbClr val="E0E4E6"/>
                </a:solidFill>
                <a:latin typeface="Arimo Bold"/>
                <a:ea typeface="Arimo Bold"/>
                <a:cs typeface="Arimo Bold"/>
                <a:sym typeface="Arimo Bold"/>
              </a:rPr>
              <a:t>Modular Frontend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51172" y="2160985"/>
            <a:ext cx="4912072" cy="10563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1625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Utilizing React components for isolated UI features (e.g., Betting Widget, Hand Component) to ensure maintainability.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6393954" y="1553021"/>
            <a:ext cx="5499944" cy="1915417"/>
            <a:chOff x="0" y="0"/>
            <a:chExt cx="7333258" cy="2553890"/>
          </a:xfrm>
        </p:grpSpPr>
        <p:sp>
          <p:nvSpPr>
            <p:cNvPr id="15" name="Freeform 15"/>
            <p:cNvSpPr/>
            <p:nvPr/>
          </p:nvSpPr>
          <p:spPr>
            <a:xfrm>
              <a:off x="19050" y="19050"/>
              <a:ext cx="7295134" cy="2515743"/>
            </a:xfrm>
            <a:custGeom>
              <a:avLst/>
              <a:gdLst/>
              <a:ahLst/>
              <a:cxnLst/>
              <a:rect l="l" t="t" r="r" b="b"/>
              <a:pathLst>
                <a:path w="7295134" h="2515743">
                  <a:moveTo>
                    <a:pt x="0" y="182880"/>
                  </a:moveTo>
                  <a:cubicBezTo>
                    <a:pt x="0" y="81915"/>
                    <a:pt x="82677" y="0"/>
                    <a:pt x="184658" y="0"/>
                  </a:cubicBezTo>
                  <a:lnTo>
                    <a:pt x="7110476" y="0"/>
                  </a:lnTo>
                  <a:cubicBezTo>
                    <a:pt x="7212457" y="0"/>
                    <a:pt x="7295134" y="81915"/>
                    <a:pt x="7295134" y="182880"/>
                  </a:cubicBezTo>
                  <a:lnTo>
                    <a:pt x="7295134" y="2332863"/>
                  </a:lnTo>
                  <a:cubicBezTo>
                    <a:pt x="7295134" y="2433828"/>
                    <a:pt x="7212457" y="2515743"/>
                    <a:pt x="7110476" y="2515743"/>
                  </a:cubicBezTo>
                  <a:lnTo>
                    <a:pt x="184658" y="2515743"/>
                  </a:lnTo>
                  <a:cubicBezTo>
                    <a:pt x="82677" y="2515743"/>
                    <a:pt x="0" y="2433828"/>
                    <a:pt x="0" y="2332863"/>
                  </a:cubicBezTo>
                  <a:close/>
                </a:path>
              </a:pathLst>
            </a:custGeom>
            <a:solidFill>
              <a:srgbClr val="0A081B">
                <a:alpha val="56078"/>
              </a:srgbClr>
            </a:solidFill>
          </p:spPr>
        </p:sp>
        <p:sp>
          <p:nvSpPr>
            <p:cNvPr id="16" name="Freeform 16"/>
            <p:cNvSpPr/>
            <p:nvPr/>
          </p:nvSpPr>
          <p:spPr>
            <a:xfrm>
              <a:off x="0" y="0"/>
              <a:ext cx="7333234" cy="2553843"/>
            </a:xfrm>
            <a:custGeom>
              <a:avLst/>
              <a:gdLst/>
              <a:ahLst/>
              <a:cxnLst/>
              <a:rect l="l" t="t" r="r" b="b"/>
              <a:pathLst>
                <a:path w="7333234" h="2553843">
                  <a:moveTo>
                    <a:pt x="0" y="201930"/>
                  </a:moveTo>
                  <a:cubicBezTo>
                    <a:pt x="0" y="90170"/>
                    <a:pt x="91440" y="0"/>
                    <a:pt x="203708" y="0"/>
                  </a:cubicBezTo>
                  <a:lnTo>
                    <a:pt x="7129526" y="0"/>
                  </a:lnTo>
                  <a:lnTo>
                    <a:pt x="7129526" y="19050"/>
                  </a:lnTo>
                  <a:lnTo>
                    <a:pt x="7129526" y="0"/>
                  </a:lnTo>
                  <a:cubicBezTo>
                    <a:pt x="7241921" y="0"/>
                    <a:pt x="7333234" y="90170"/>
                    <a:pt x="7333234" y="201930"/>
                  </a:cubicBezTo>
                  <a:lnTo>
                    <a:pt x="7314184" y="201930"/>
                  </a:lnTo>
                  <a:lnTo>
                    <a:pt x="7333234" y="201930"/>
                  </a:lnTo>
                  <a:lnTo>
                    <a:pt x="7333234" y="2351913"/>
                  </a:lnTo>
                  <a:lnTo>
                    <a:pt x="7314184" y="2351913"/>
                  </a:lnTo>
                  <a:lnTo>
                    <a:pt x="7333234" y="2351913"/>
                  </a:lnTo>
                  <a:cubicBezTo>
                    <a:pt x="7333234" y="2463546"/>
                    <a:pt x="7241794" y="2553843"/>
                    <a:pt x="7129526" y="2553843"/>
                  </a:cubicBezTo>
                  <a:lnTo>
                    <a:pt x="7129526" y="2534793"/>
                  </a:lnTo>
                  <a:lnTo>
                    <a:pt x="7129526" y="2553843"/>
                  </a:lnTo>
                  <a:lnTo>
                    <a:pt x="203708" y="2553843"/>
                  </a:lnTo>
                  <a:lnTo>
                    <a:pt x="203708" y="2534793"/>
                  </a:lnTo>
                  <a:lnTo>
                    <a:pt x="203708" y="2553843"/>
                  </a:lnTo>
                  <a:cubicBezTo>
                    <a:pt x="91440" y="2553843"/>
                    <a:pt x="0" y="2463673"/>
                    <a:pt x="0" y="2351913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2351913"/>
                  </a:lnTo>
                  <a:lnTo>
                    <a:pt x="19050" y="2351913"/>
                  </a:lnTo>
                  <a:lnTo>
                    <a:pt x="38100" y="2351913"/>
                  </a:lnTo>
                  <a:cubicBezTo>
                    <a:pt x="38100" y="2442210"/>
                    <a:pt x="112014" y="2515743"/>
                    <a:pt x="203708" y="2515743"/>
                  </a:cubicBezTo>
                  <a:lnTo>
                    <a:pt x="7129526" y="2515743"/>
                  </a:lnTo>
                  <a:cubicBezTo>
                    <a:pt x="7221220" y="2515743"/>
                    <a:pt x="7295134" y="2442210"/>
                    <a:pt x="7295134" y="2351913"/>
                  </a:cubicBezTo>
                  <a:lnTo>
                    <a:pt x="7295134" y="201930"/>
                  </a:lnTo>
                  <a:cubicBezTo>
                    <a:pt x="7295134" y="111633"/>
                    <a:pt x="7221220" y="38100"/>
                    <a:pt x="7129526" y="38100"/>
                  </a:cubicBezTo>
                  <a:lnTo>
                    <a:pt x="203708" y="38100"/>
                  </a:lnTo>
                  <a:lnTo>
                    <a:pt x="203708" y="19050"/>
                  </a:lnTo>
                  <a:lnTo>
                    <a:pt x="203708" y="38100"/>
                  </a:lnTo>
                  <a:cubicBezTo>
                    <a:pt x="112014" y="38100"/>
                    <a:pt x="38100" y="111633"/>
                    <a:pt x="38100" y="201930"/>
                  </a:cubicBezTo>
                  <a:close/>
                </a:path>
              </a:pathLst>
            </a:custGeom>
            <a:solidFill>
              <a:srgbClr val="29DDDA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6379666" y="1567309"/>
            <a:ext cx="114300" cy="1886842"/>
            <a:chOff x="0" y="0"/>
            <a:chExt cx="152400" cy="251579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52400" cy="2515743"/>
            </a:xfrm>
            <a:custGeom>
              <a:avLst/>
              <a:gdLst/>
              <a:ahLst/>
              <a:cxnLst/>
              <a:rect l="l" t="t" r="r" b="b"/>
              <a:pathLst>
                <a:path w="152400" h="2515743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lnTo>
                    <a:pt x="152400" y="2439543"/>
                  </a:lnTo>
                  <a:cubicBezTo>
                    <a:pt x="152400" y="2481580"/>
                    <a:pt x="118237" y="2515743"/>
                    <a:pt x="76200" y="2515743"/>
                  </a:cubicBezTo>
                  <a:cubicBezTo>
                    <a:pt x="34163" y="2515743"/>
                    <a:pt x="0" y="2481580"/>
                    <a:pt x="0" y="2439543"/>
                  </a:cubicBezTo>
                  <a:close/>
                </a:path>
              </a:pathLst>
            </a:custGeom>
            <a:solidFill>
              <a:srgbClr val="29DDDA"/>
            </a:solidFill>
          </p:spPr>
        </p:sp>
      </p:grpSp>
      <p:sp>
        <p:nvSpPr>
          <p:cNvPr id="19" name="TextBox 19"/>
          <p:cNvSpPr txBox="1"/>
          <p:nvPr/>
        </p:nvSpPr>
        <p:spPr>
          <a:xfrm>
            <a:off x="6730752" y="1775520"/>
            <a:ext cx="2313534" cy="3177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9"/>
              </a:lnSpc>
            </a:pPr>
            <a:r>
              <a:rPr lang="en-US" sz="1812" b="1">
                <a:solidFill>
                  <a:srgbClr val="E0E4E6"/>
                </a:solidFill>
                <a:latin typeface="Arimo Bold"/>
                <a:ea typeface="Arimo Bold"/>
                <a:cs typeface="Arimo Bold"/>
                <a:sym typeface="Arimo Bold"/>
              </a:rPr>
              <a:t>State Management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730752" y="2160985"/>
            <a:ext cx="4912072" cy="10563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1625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Centralized game state using Redux/Context to manage real-time updates for bets, hands, and dealer status.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12073533" y="1553021"/>
            <a:ext cx="5499944" cy="1915417"/>
            <a:chOff x="0" y="0"/>
            <a:chExt cx="7333258" cy="2553890"/>
          </a:xfrm>
        </p:grpSpPr>
        <p:sp>
          <p:nvSpPr>
            <p:cNvPr id="22" name="Freeform 22"/>
            <p:cNvSpPr/>
            <p:nvPr/>
          </p:nvSpPr>
          <p:spPr>
            <a:xfrm>
              <a:off x="19050" y="19050"/>
              <a:ext cx="7295134" cy="2515743"/>
            </a:xfrm>
            <a:custGeom>
              <a:avLst/>
              <a:gdLst/>
              <a:ahLst/>
              <a:cxnLst/>
              <a:rect l="l" t="t" r="r" b="b"/>
              <a:pathLst>
                <a:path w="7295134" h="2515743">
                  <a:moveTo>
                    <a:pt x="0" y="182880"/>
                  </a:moveTo>
                  <a:cubicBezTo>
                    <a:pt x="0" y="81915"/>
                    <a:pt x="82677" y="0"/>
                    <a:pt x="184658" y="0"/>
                  </a:cubicBezTo>
                  <a:lnTo>
                    <a:pt x="7110476" y="0"/>
                  </a:lnTo>
                  <a:cubicBezTo>
                    <a:pt x="7212457" y="0"/>
                    <a:pt x="7295134" y="81915"/>
                    <a:pt x="7295134" y="182880"/>
                  </a:cubicBezTo>
                  <a:lnTo>
                    <a:pt x="7295134" y="2332863"/>
                  </a:lnTo>
                  <a:cubicBezTo>
                    <a:pt x="7295134" y="2433828"/>
                    <a:pt x="7212457" y="2515743"/>
                    <a:pt x="7110476" y="2515743"/>
                  </a:cubicBezTo>
                  <a:lnTo>
                    <a:pt x="184658" y="2515743"/>
                  </a:lnTo>
                  <a:cubicBezTo>
                    <a:pt x="82677" y="2515743"/>
                    <a:pt x="0" y="2433828"/>
                    <a:pt x="0" y="2332863"/>
                  </a:cubicBezTo>
                  <a:close/>
                </a:path>
              </a:pathLst>
            </a:custGeom>
            <a:solidFill>
              <a:srgbClr val="0A081B">
                <a:alpha val="56078"/>
              </a:srgbClr>
            </a:solidFill>
          </p:spPr>
        </p:sp>
        <p:sp>
          <p:nvSpPr>
            <p:cNvPr id="23" name="Freeform 23"/>
            <p:cNvSpPr/>
            <p:nvPr/>
          </p:nvSpPr>
          <p:spPr>
            <a:xfrm>
              <a:off x="0" y="0"/>
              <a:ext cx="7333234" cy="2553843"/>
            </a:xfrm>
            <a:custGeom>
              <a:avLst/>
              <a:gdLst/>
              <a:ahLst/>
              <a:cxnLst/>
              <a:rect l="l" t="t" r="r" b="b"/>
              <a:pathLst>
                <a:path w="7333234" h="2553843">
                  <a:moveTo>
                    <a:pt x="0" y="201930"/>
                  </a:moveTo>
                  <a:cubicBezTo>
                    <a:pt x="0" y="90170"/>
                    <a:pt x="91440" y="0"/>
                    <a:pt x="203708" y="0"/>
                  </a:cubicBezTo>
                  <a:lnTo>
                    <a:pt x="7129526" y="0"/>
                  </a:lnTo>
                  <a:lnTo>
                    <a:pt x="7129526" y="19050"/>
                  </a:lnTo>
                  <a:lnTo>
                    <a:pt x="7129526" y="0"/>
                  </a:lnTo>
                  <a:cubicBezTo>
                    <a:pt x="7241921" y="0"/>
                    <a:pt x="7333234" y="90170"/>
                    <a:pt x="7333234" y="201930"/>
                  </a:cubicBezTo>
                  <a:lnTo>
                    <a:pt x="7314184" y="201930"/>
                  </a:lnTo>
                  <a:lnTo>
                    <a:pt x="7333234" y="201930"/>
                  </a:lnTo>
                  <a:lnTo>
                    <a:pt x="7333234" y="2351913"/>
                  </a:lnTo>
                  <a:lnTo>
                    <a:pt x="7314184" y="2351913"/>
                  </a:lnTo>
                  <a:lnTo>
                    <a:pt x="7333234" y="2351913"/>
                  </a:lnTo>
                  <a:cubicBezTo>
                    <a:pt x="7333234" y="2463546"/>
                    <a:pt x="7241794" y="2553843"/>
                    <a:pt x="7129526" y="2553843"/>
                  </a:cubicBezTo>
                  <a:lnTo>
                    <a:pt x="7129526" y="2534793"/>
                  </a:lnTo>
                  <a:lnTo>
                    <a:pt x="7129526" y="2553843"/>
                  </a:lnTo>
                  <a:lnTo>
                    <a:pt x="203708" y="2553843"/>
                  </a:lnTo>
                  <a:lnTo>
                    <a:pt x="203708" y="2534793"/>
                  </a:lnTo>
                  <a:lnTo>
                    <a:pt x="203708" y="2553843"/>
                  </a:lnTo>
                  <a:cubicBezTo>
                    <a:pt x="91440" y="2553843"/>
                    <a:pt x="0" y="2463673"/>
                    <a:pt x="0" y="2351913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2351913"/>
                  </a:lnTo>
                  <a:lnTo>
                    <a:pt x="19050" y="2351913"/>
                  </a:lnTo>
                  <a:lnTo>
                    <a:pt x="38100" y="2351913"/>
                  </a:lnTo>
                  <a:cubicBezTo>
                    <a:pt x="38100" y="2442210"/>
                    <a:pt x="112014" y="2515743"/>
                    <a:pt x="203708" y="2515743"/>
                  </a:cubicBezTo>
                  <a:lnTo>
                    <a:pt x="7129526" y="2515743"/>
                  </a:lnTo>
                  <a:cubicBezTo>
                    <a:pt x="7221220" y="2515743"/>
                    <a:pt x="7295134" y="2442210"/>
                    <a:pt x="7295134" y="2351913"/>
                  </a:cubicBezTo>
                  <a:lnTo>
                    <a:pt x="7295134" y="201930"/>
                  </a:lnTo>
                  <a:cubicBezTo>
                    <a:pt x="7295134" y="111633"/>
                    <a:pt x="7221220" y="38100"/>
                    <a:pt x="7129526" y="38100"/>
                  </a:cubicBezTo>
                  <a:lnTo>
                    <a:pt x="203708" y="38100"/>
                  </a:lnTo>
                  <a:lnTo>
                    <a:pt x="203708" y="19050"/>
                  </a:lnTo>
                  <a:lnTo>
                    <a:pt x="203708" y="38100"/>
                  </a:lnTo>
                  <a:cubicBezTo>
                    <a:pt x="112014" y="38100"/>
                    <a:pt x="38100" y="111633"/>
                    <a:pt x="38100" y="201930"/>
                  </a:cubicBezTo>
                  <a:close/>
                </a:path>
              </a:pathLst>
            </a:custGeom>
            <a:solidFill>
              <a:srgbClr val="37A7E7"/>
            </a:solidFill>
          </p:spPr>
        </p:sp>
      </p:grpSp>
      <p:grpSp>
        <p:nvGrpSpPr>
          <p:cNvPr id="24" name="Group 24"/>
          <p:cNvGrpSpPr/>
          <p:nvPr/>
        </p:nvGrpSpPr>
        <p:grpSpPr>
          <a:xfrm>
            <a:off x="12059245" y="1567309"/>
            <a:ext cx="114300" cy="1886842"/>
            <a:chOff x="0" y="0"/>
            <a:chExt cx="152400" cy="251579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52400" cy="2515743"/>
            </a:xfrm>
            <a:custGeom>
              <a:avLst/>
              <a:gdLst/>
              <a:ahLst/>
              <a:cxnLst/>
              <a:rect l="l" t="t" r="r" b="b"/>
              <a:pathLst>
                <a:path w="152400" h="2515743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lnTo>
                    <a:pt x="152400" y="2439543"/>
                  </a:lnTo>
                  <a:cubicBezTo>
                    <a:pt x="152400" y="2481580"/>
                    <a:pt x="118237" y="2515743"/>
                    <a:pt x="76200" y="2515743"/>
                  </a:cubicBezTo>
                  <a:cubicBezTo>
                    <a:pt x="34163" y="2515743"/>
                    <a:pt x="0" y="2481580"/>
                    <a:pt x="0" y="2439543"/>
                  </a:cubicBezTo>
                  <a:close/>
                </a:path>
              </a:pathLst>
            </a:custGeom>
            <a:solidFill>
              <a:srgbClr val="37A7E7"/>
            </a:solidFill>
          </p:spPr>
        </p:sp>
      </p:grpSp>
      <p:sp>
        <p:nvSpPr>
          <p:cNvPr id="26" name="TextBox 26"/>
          <p:cNvSpPr txBox="1"/>
          <p:nvPr/>
        </p:nvSpPr>
        <p:spPr>
          <a:xfrm>
            <a:off x="12410331" y="1775520"/>
            <a:ext cx="2313534" cy="3177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9"/>
              </a:lnSpc>
            </a:pPr>
            <a:r>
              <a:rPr lang="en-US" sz="1812" b="1">
                <a:solidFill>
                  <a:srgbClr val="E0E4E6"/>
                </a:solidFill>
                <a:latin typeface="Arimo Bold"/>
                <a:ea typeface="Arimo Bold"/>
                <a:cs typeface="Arimo Bold"/>
                <a:sym typeface="Arimo Bold"/>
              </a:rPr>
              <a:t>API Integration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410331" y="2160985"/>
            <a:ext cx="4912072" cy="10563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1625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Optimized REST API endpoints for secure transaction handling (bet placement, win/loss recording) and minimal latency.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798016" y="3688259"/>
            <a:ext cx="16691967" cy="7197924"/>
            <a:chOff x="0" y="0"/>
            <a:chExt cx="22255957" cy="9597232"/>
          </a:xfrm>
        </p:grpSpPr>
        <p:sp>
          <p:nvSpPr>
            <p:cNvPr id="29" name="Freeform 29" descr="preencoded.png"/>
            <p:cNvSpPr/>
            <p:nvPr/>
          </p:nvSpPr>
          <p:spPr>
            <a:xfrm>
              <a:off x="0" y="0"/>
              <a:ext cx="22255987" cy="9597263"/>
            </a:xfrm>
            <a:custGeom>
              <a:avLst/>
              <a:gdLst/>
              <a:ahLst/>
              <a:cxnLst/>
              <a:rect l="l" t="t" r="r" b="b"/>
              <a:pathLst>
                <a:path w="22255987" h="9597263">
                  <a:moveTo>
                    <a:pt x="0" y="0"/>
                  </a:moveTo>
                  <a:lnTo>
                    <a:pt x="22255987" y="0"/>
                  </a:lnTo>
                  <a:lnTo>
                    <a:pt x="22255987" y="9597263"/>
                  </a:lnTo>
                  <a:lnTo>
                    <a:pt x="0" y="95972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33" b="-32"/>
              </a:stretch>
            </a:blipFill>
          </p:spPr>
        </p:sp>
      </p:grpSp>
      <p:sp>
        <p:nvSpPr>
          <p:cNvPr id="30" name="TextBox 30"/>
          <p:cNvSpPr txBox="1"/>
          <p:nvPr/>
        </p:nvSpPr>
        <p:spPr>
          <a:xfrm>
            <a:off x="1921250" y="9528434"/>
            <a:ext cx="3366067" cy="4398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4"/>
              </a:lnSpc>
            </a:pPr>
            <a:r>
              <a:rPr lang="en-US" sz="15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Database Update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921250" y="7862230"/>
            <a:ext cx="3366067" cy="4398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4"/>
              </a:lnSpc>
            </a:pPr>
            <a:r>
              <a:rPr lang="en-US" sz="15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Server Logic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921250" y="6212858"/>
            <a:ext cx="3366067" cy="4398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4"/>
              </a:lnSpc>
            </a:pPr>
            <a:r>
              <a:rPr lang="en-US" sz="15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API Call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921250" y="4546655"/>
            <a:ext cx="3366067" cy="439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4"/>
              </a:lnSpc>
            </a:pPr>
            <a:r>
              <a:rPr lang="en-US" sz="15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Player Action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1270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1439525" y="-59085"/>
            <a:ext cx="6858000" cy="10287000"/>
            <a:chOff x="0" y="0"/>
            <a:chExt cx="9144000" cy="13716000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782240" y="698747"/>
            <a:ext cx="6965602" cy="6759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37"/>
              </a:lnSpc>
            </a:pPr>
            <a:r>
              <a:rPr lang="en-US" sz="3937" b="1">
                <a:solidFill>
                  <a:srgbClr val="F0FCFF"/>
                </a:solidFill>
                <a:latin typeface="Arimo Bold"/>
                <a:ea typeface="Arimo Bold"/>
                <a:cs typeface="Arimo Bold"/>
                <a:sym typeface="Arimo Bold"/>
              </a:rPr>
              <a:t>Challenges Faced &amp; Solutions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5700712" y="2279600"/>
            <a:ext cx="28575" cy="6695480"/>
            <a:chOff x="0" y="0"/>
            <a:chExt cx="38100" cy="892730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8100" cy="8927338"/>
            </a:xfrm>
            <a:custGeom>
              <a:avLst/>
              <a:gdLst/>
              <a:ahLst/>
              <a:cxnLst/>
              <a:rect l="l" t="t" r="r" b="b"/>
              <a:pathLst>
                <a:path w="38100" h="8927338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8908288"/>
                  </a:lnTo>
                  <a:cubicBezTo>
                    <a:pt x="38100" y="8918829"/>
                    <a:pt x="29591" y="8927338"/>
                    <a:pt x="19050" y="8927338"/>
                  </a:cubicBezTo>
                  <a:cubicBezTo>
                    <a:pt x="8509" y="8927338"/>
                    <a:pt x="0" y="8918829"/>
                    <a:pt x="0" y="8908288"/>
                  </a:cubicBezTo>
                  <a:close/>
                </a:path>
              </a:pathLst>
            </a:custGeom>
            <a:solidFill>
              <a:srgbClr val="FFFFFF">
                <a:alpha val="5490"/>
              </a:srgbClr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5064919" y="3278386"/>
            <a:ext cx="678656" cy="28575"/>
            <a:chOff x="0" y="0"/>
            <a:chExt cx="904875" cy="381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904875" cy="38100"/>
            </a:xfrm>
            <a:custGeom>
              <a:avLst/>
              <a:gdLst/>
              <a:ahLst/>
              <a:cxnLst/>
              <a:rect l="l" t="t" r="r" b="b"/>
              <a:pathLst>
                <a:path w="904875" h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885825" y="0"/>
                  </a:lnTo>
                  <a:cubicBezTo>
                    <a:pt x="896366" y="0"/>
                    <a:pt x="904875" y="8509"/>
                    <a:pt x="904875" y="19050"/>
                  </a:cubicBezTo>
                  <a:cubicBezTo>
                    <a:pt x="904875" y="29591"/>
                    <a:pt x="896366" y="38100"/>
                    <a:pt x="885825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00E5A1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5630168" y="3207841"/>
            <a:ext cx="169664" cy="169664"/>
            <a:chOff x="0" y="0"/>
            <a:chExt cx="226218" cy="226218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26314" cy="226314"/>
            </a:xfrm>
            <a:custGeom>
              <a:avLst/>
              <a:gdLst/>
              <a:ahLst/>
              <a:cxnLst/>
              <a:rect l="l" t="t" r="r" b="b"/>
              <a:pathLst>
                <a:path w="226314" h="226314">
                  <a:moveTo>
                    <a:pt x="0" y="113157"/>
                  </a:moveTo>
                  <a:cubicBezTo>
                    <a:pt x="0" y="50673"/>
                    <a:pt x="50673" y="0"/>
                    <a:pt x="113157" y="0"/>
                  </a:cubicBezTo>
                  <a:cubicBezTo>
                    <a:pt x="175641" y="0"/>
                    <a:pt x="226314" y="50673"/>
                    <a:pt x="226314" y="113157"/>
                  </a:cubicBezTo>
                  <a:cubicBezTo>
                    <a:pt x="226314" y="175641"/>
                    <a:pt x="175641" y="226314"/>
                    <a:pt x="113157" y="226314"/>
                  </a:cubicBezTo>
                  <a:cubicBezTo>
                    <a:pt x="50673" y="226314"/>
                    <a:pt x="0" y="175514"/>
                    <a:pt x="0" y="113157"/>
                  </a:cubicBezTo>
                  <a:close/>
                </a:path>
              </a:pathLst>
            </a:custGeom>
            <a:solidFill>
              <a:srgbClr val="16FFBB"/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801290" y="2255713"/>
            <a:ext cx="4263629" cy="2045345"/>
            <a:chOff x="0" y="0"/>
            <a:chExt cx="5684838" cy="2727127"/>
          </a:xfrm>
        </p:grpSpPr>
        <p:sp>
          <p:nvSpPr>
            <p:cNvPr id="16" name="Freeform 16"/>
            <p:cNvSpPr/>
            <p:nvPr/>
          </p:nvSpPr>
          <p:spPr>
            <a:xfrm>
              <a:off x="12700" y="12700"/>
              <a:ext cx="5659374" cy="2701798"/>
            </a:xfrm>
            <a:custGeom>
              <a:avLst/>
              <a:gdLst/>
              <a:ahLst/>
              <a:cxnLst/>
              <a:rect l="l" t="t" r="r" b="b"/>
              <a:pathLst>
                <a:path w="5659374" h="2701798">
                  <a:moveTo>
                    <a:pt x="0" y="452501"/>
                  </a:moveTo>
                  <a:cubicBezTo>
                    <a:pt x="0" y="202565"/>
                    <a:pt x="203581" y="0"/>
                    <a:pt x="454660" y="0"/>
                  </a:cubicBezTo>
                  <a:lnTo>
                    <a:pt x="5204714" y="0"/>
                  </a:lnTo>
                  <a:cubicBezTo>
                    <a:pt x="5455793" y="0"/>
                    <a:pt x="5659374" y="202565"/>
                    <a:pt x="5659374" y="452501"/>
                  </a:cubicBezTo>
                  <a:lnTo>
                    <a:pt x="5659374" y="2249297"/>
                  </a:lnTo>
                  <a:cubicBezTo>
                    <a:pt x="5659374" y="2499233"/>
                    <a:pt x="5455793" y="2701798"/>
                    <a:pt x="5204714" y="2701798"/>
                  </a:cubicBezTo>
                  <a:lnTo>
                    <a:pt x="454660" y="2701798"/>
                  </a:lnTo>
                  <a:cubicBezTo>
                    <a:pt x="203581" y="2701671"/>
                    <a:pt x="0" y="2499106"/>
                    <a:pt x="0" y="2249297"/>
                  </a:cubicBezTo>
                  <a:close/>
                </a:path>
              </a:pathLst>
            </a:custGeom>
            <a:solidFill>
              <a:srgbClr val="0A081B"/>
            </a:solidFill>
          </p:spPr>
        </p:sp>
        <p:sp>
          <p:nvSpPr>
            <p:cNvPr id="17" name="Freeform 17"/>
            <p:cNvSpPr/>
            <p:nvPr/>
          </p:nvSpPr>
          <p:spPr>
            <a:xfrm>
              <a:off x="0" y="0"/>
              <a:ext cx="5684774" cy="2727198"/>
            </a:xfrm>
            <a:custGeom>
              <a:avLst/>
              <a:gdLst/>
              <a:ahLst/>
              <a:cxnLst/>
              <a:rect l="l" t="t" r="r" b="b"/>
              <a:pathLst>
                <a:path w="5684774" h="2727198">
                  <a:moveTo>
                    <a:pt x="0" y="465201"/>
                  </a:moveTo>
                  <a:cubicBezTo>
                    <a:pt x="0" y="208153"/>
                    <a:pt x="209296" y="0"/>
                    <a:pt x="467360" y="0"/>
                  </a:cubicBezTo>
                  <a:lnTo>
                    <a:pt x="5217414" y="0"/>
                  </a:lnTo>
                  <a:lnTo>
                    <a:pt x="5217414" y="12700"/>
                  </a:lnTo>
                  <a:lnTo>
                    <a:pt x="5217414" y="0"/>
                  </a:lnTo>
                  <a:cubicBezTo>
                    <a:pt x="5475478" y="0"/>
                    <a:pt x="5684774" y="208153"/>
                    <a:pt x="5684774" y="465201"/>
                  </a:cubicBezTo>
                  <a:lnTo>
                    <a:pt x="5672074" y="465201"/>
                  </a:lnTo>
                  <a:lnTo>
                    <a:pt x="5684774" y="465201"/>
                  </a:lnTo>
                  <a:lnTo>
                    <a:pt x="5684774" y="2261997"/>
                  </a:lnTo>
                  <a:lnTo>
                    <a:pt x="5672074" y="2261997"/>
                  </a:lnTo>
                  <a:lnTo>
                    <a:pt x="5684774" y="2261997"/>
                  </a:lnTo>
                  <a:cubicBezTo>
                    <a:pt x="5684774" y="2518918"/>
                    <a:pt x="5475478" y="2727198"/>
                    <a:pt x="5217414" y="2727198"/>
                  </a:cubicBezTo>
                  <a:lnTo>
                    <a:pt x="5217414" y="2714498"/>
                  </a:lnTo>
                  <a:lnTo>
                    <a:pt x="5217414" y="2727198"/>
                  </a:lnTo>
                  <a:lnTo>
                    <a:pt x="467360" y="2727198"/>
                  </a:lnTo>
                  <a:lnTo>
                    <a:pt x="467360" y="2714498"/>
                  </a:lnTo>
                  <a:lnTo>
                    <a:pt x="467360" y="2727198"/>
                  </a:lnTo>
                  <a:cubicBezTo>
                    <a:pt x="209296" y="2727071"/>
                    <a:pt x="0" y="2518918"/>
                    <a:pt x="0" y="2261997"/>
                  </a:cubicBezTo>
                  <a:lnTo>
                    <a:pt x="0" y="465201"/>
                  </a:lnTo>
                  <a:lnTo>
                    <a:pt x="12700" y="465201"/>
                  </a:lnTo>
                  <a:lnTo>
                    <a:pt x="0" y="465201"/>
                  </a:lnTo>
                  <a:moveTo>
                    <a:pt x="25400" y="465201"/>
                  </a:moveTo>
                  <a:lnTo>
                    <a:pt x="25400" y="2261997"/>
                  </a:lnTo>
                  <a:lnTo>
                    <a:pt x="12700" y="2261997"/>
                  </a:lnTo>
                  <a:lnTo>
                    <a:pt x="25400" y="2261997"/>
                  </a:lnTo>
                  <a:cubicBezTo>
                    <a:pt x="25400" y="2504821"/>
                    <a:pt x="223266" y="2701798"/>
                    <a:pt x="467360" y="2701798"/>
                  </a:cubicBezTo>
                  <a:lnTo>
                    <a:pt x="5217414" y="2701798"/>
                  </a:lnTo>
                  <a:cubicBezTo>
                    <a:pt x="5461635" y="2701798"/>
                    <a:pt x="5659374" y="2504821"/>
                    <a:pt x="5659374" y="2261997"/>
                  </a:cubicBezTo>
                  <a:lnTo>
                    <a:pt x="5659374" y="465201"/>
                  </a:lnTo>
                  <a:cubicBezTo>
                    <a:pt x="5659501" y="222377"/>
                    <a:pt x="5461635" y="25400"/>
                    <a:pt x="5217414" y="25400"/>
                  </a:cubicBezTo>
                  <a:lnTo>
                    <a:pt x="467360" y="25400"/>
                  </a:lnTo>
                  <a:lnTo>
                    <a:pt x="467360" y="12700"/>
                  </a:lnTo>
                  <a:lnTo>
                    <a:pt x="467360" y="25400"/>
                  </a:lnTo>
                  <a:cubicBezTo>
                    <a:pt x="223266" y="25400"/>
                    <a:pt x="25400" y="222377"/>
                    <a:pt x="25400" y="465201"/>
                  </a:cubicBezTo>
                  <a:close/>
                </a:path>
              </a:pathLst>
            </a:custGeom>
            <a:solidFill>
              <a:srgbClr val="16FFBB"/>
            </a:solidFill>
          </p:spPr>
        </p:sp>
      </p:grpSp>
      <p:sp>
        <p:nvSpPr>
          <p:cNvPr id="18" name="TextBox 18"/>
          <p:cNvSpPr txBox="1"/>
          <p:nvPr/>
        </p:nvSpPr>
        <p:spPr>
          <a:xfrm>
            <a:off x="1541264" y="2496294"/>
            <a:ext cx="3249811" cy="5951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437"/>
              </a:lnSpc>
            </a:pPr>
            <a:r>
              <a:rPr lang="en-US" sz="1937" b="1" dirty="0">
                <a:solidFill>
                  <a:srgbClr val="E0E4E6"/>
                </a:solidFill>
                <a:latin typeface="Arimo Bold"/>
                <a:ea typeface="Arimo Bold"/>
                <a:cs typeface="Arimo Bold"/>
                <a:sym typeface="Arimo Bold"/>
              </a:rPr>
              <a:t>Challenge: Firebase implementation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87489" y="3139359"/>
            <a:ext cx="3754041" cy="10323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12"/>
              </a:lnSpc>
            </a:pPr>
            <a:r>
              <a:rPr lang="en-US" sz="1750" dirty="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Ensuring email authentication and proper configuration of Firebase for our needs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5700712" y="6577662"/>
            <a:ext cx="678656" cy="28575"/>
            <a:chOff x="0" y="0"/>
            <a:chExt cx="904875" cy="381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904875" cy="38100"/>
            </a:xfrm>
            <a:custGeom>
              <a:avLst/>
              <a:gdLst/>
              <a:ahLst/>
              <a:cxnLst/>
              <a:rect l="l" t="t" r="r" b="b"/>
              <a:pathLst>
                <a:path w="904875" h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885825" y="0"/>
                  </a:lnTo>
                  <a:cubicBezTo>
                    <a:pt x="896366" y="0"/>
                    <a:pt x="904875" y="8509"/>
                    <a:pt x="904875" y="19050"/>
                  </a:cubicBezTo>
                  <a:cubicBezTo>
                    <a:pt x="904875" y="29591"/>
                    <a:pt x="896366" y="38100"/>
                    <a:pt x="885825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0FC3C0"/>
            </a:solidFill>
          </p:spPr>
        </p:sp>
      </p:grpSp>
      <p:grpSp>
        <p:nvGrpSpPr>
          <p:cNvPr id="22" name="Group 22"/>
          <p:cNvGrpSpPr/>
          <p:nvPr/>
        </p:nvGrpSpPr>
        <p:grpSpPr>
          <a:xfrm>
            <a:off x="5615880" y="6494487"/>
            <a:ext cx="169664" cy="169664"/>
            <a:chOff x="0" y="0"/>
            <a:chExt cx="226218" cy="226218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26314" cy="226314"/>
            </a:xfrm>
            <a:custGeom>
              <a:avLst/>
              <a:gdLst/>
              <a:ahLst/>
              <a:cxnLst/>
              <a:rect l="l" t="t" r="r" b="b"/>
              <a:pathLst>
                <a:path w="226314" h="226314">
                  <a:moveTo>
                    <a:pt x="0" y="113157"/>
                  </a:moveTo>
                  <a:cubicBezTo>
                    <a:pt x="0" y="50673"/>
                    <a:pt x="50673" y="0"/>
                    <a:pt x="113157" y="0"/>
                  </a:cubicBezTo>
                  <a:cubicBezTo>
                    <a:pt x="175641" y="0"/>
                    <a:pt x="226314" y="50673"/>
                    <a:pt x="226314" y="113157"/>
                  </a:cubicBezTo>
                  <a:cubicBezTo>
                    <a:pt x="226314" y="175641"/>
                    <a:pt x="175641" y="226314"/>
                    <a:pt x="113157" y="226314"/>
                  </a:cubicBezTo>
                  <a:cubicBezTo>
                    <a:pt x="50673" y="226314"/>
                    <a:pt x="0" y="175514"/>
                    <a:pt x="0" y="113157"/>
                  </a:cubicBezTo>
                  <a:close/>
                </a:path>
              </a:pathLst>
            </a:custGeom>
            <a:solidFill>
              <a:srgbClr val="29DDDA"/>
            </a:solidFill>
          </p:spPr>
        </p:sp>
      </p:grpSp>
      <p:grpSp>
        <p:nvGrpSpPr>
          <p:cNvPr id="24" name="Group 24"/>
          <p:cNvGrpSpPr/>
          <p:nvPr/>
        </p:nvGrpSpPr>
        <p:grpSpPr>
          <a:xfrm>
            <a:off x="6365128" y="5641550"/>
            <a:ext cx="4263629" cy="2045345"/>
            <a:chOff x="0" y="0"/>
            <a:chExt cx="5684838" cy="2727127"/>
          </a:xfrm>
        </p:grpSpPr>
        <p:sp>
          <p:nvSpPr>
            <p:cNvPr id="25" name="Freeform 25"/>
            <p:cNvSpPr/>
            <p:nvPr/>
          </p:nvSpPr>
          <p:spPr>
            <a:xfrm>
              <a:off x="12700" y="12700"/>
              <a:ext cx="5659374" cy="2701798"/>
            </a:xfrm>
            <a:custGeom>
              <a:avLst/>
              <a:gdLst/>
              <a:ahLst/>
              <a:cxnLst/>
              <a:rect l="l" t="t" r="r" b="b"/>
              <a:pathLst>
                <a:path w="5659374" h="2701798">
                  <a:moveTo>
                    <a:pt x="0" y="452501"/>
                  </a:moveTo>
                  <a:cubicBezTo>
                    <a:pt x="0" y="202565"/>
                    <a:pt x="203581" y="0"/>
                    <a:pt x="454660" y="0"/>
                  </a:cubicBezTo>
                  <a:lnTo>
                    <a:pt x="5204714" y="0"/>
                  </a:lnTo>
                  <a:cubicBezTo>
                    <a:pt x="5455793" y="0"/>
                    <a:pt x="5659374" y="202565"/>
                    <a:pt x="5659374" y="452501"/>
                  </a:cubicBezTo>
                  <a:lnTo>
                    <a:pt x="5659374" y="2249297"/>
                  </a:lnTo>
                  <a:cubicBezTo>
                    <a:pt x="5659374" y="2499233"/>
                    <a:pt x="5455793" y="2701798"/>
                    <a:pt x="5204714" y="2701798"/>
                  </a:cubicBezTo>
                  <a:lnTo>
                    <a:pt x="454660" y="2701798"/>
                  </a:lnTo>
                  <a:cubicBezTo>
                    <a:pt x="203581" y="2701671"/>
                    <a:pt x="0" y="2499106"/>
                    <a:pt x="0" y="2249297"/>
                  </a:cubicBezTo>
                  <a:close/>
                </a:path>
              </a:pathLst>
            </a:custGeom>
            <a:solidFill>
              <a:srgbClr val="0A081B"/>
            </a:solidFill>
          </p:spPr>
        </p:sp>
        <p:sp>
          <p:nvSpPr>
            <p:cNvPr id="26" name="Freeform 26"/>
            <p:cNvSpPr/>
            <p:nvPr/>
          </p:nvSpPr>
          <p:spPr>
            <a:xfrm>
              <a:off x="0" y="0"/>
              <a:ext cx="5684774" cy="2727198"/>
            </a:xfrm>
            <a:custGeom>
              <a:avLst/>
              <a:gdLst/>
              <a:ahLst/>
              <a:cxnLst/>
              <a:rect l="l" t="t" r="r" b="b"/>
              <a:pathLst>
                <a:path w="5684774" h="2727198">
                  <a:moveTo>
                    <a:pt x="0" y="465201"/>
                  </a:moveTo>
                  <a:cubicBezTo>
                    <a:pt x="0" y="208153"/>
                    <a:pt x="209296" y="0"/>
                    <a:pt x="467360" y="0"/>
                  </a:cubicBezTo>
                  <a:lnTo>
                    <a:pt x="5217414" y="0"/>
                  </a:lnTo>
                  <a:lnTo>
                    <a:pt x="5217414" y="12700"/>
                  </a:lnTo>
                  <a:lnTo>
                    <a:pt x="5217414" y="0"/>
                  </a:lnTo>
                  <a:cubicBezTo>
                    <a:pt x="5475478" y="0"/>
                    <a:pt x="5684774" y="208153"/>
                    <a:pt x="5684774" y="465201"/>
                  </a:cubicBezTo>
                  <a:lnTo>
                    <a:pt x="5672074" y="465201"/>
                  </a:lnTo>
                  <a:lnTo>
                    <a:pt x="5684774" y="465201"/>
                  </a:lnTo>
                  <a:lnTo>
                    <a:pt x="5684774" y="2261997"/>
                  </a:lnTo>
                  <a:lnTo>
                    <a:pt x="5672074" y="2261997"/>
                  </a:lnTo>
                  <a:lnTo>
                    <a:pt x="5684774" y="2261997"/>
                  </a:lnTo>
                  <a:cubicBezTo>
                    <a:pt x="5684774" y="2518918"/>
                    <a:pt x="5475478" y="2727198"/>
                    <a:pt x="5217414" y="2727198"/>
                  </a:cubicBezTo>
                  <a:lnTo>
                    <a:pt x="5217414" y="2714498"/>
                  </a:lnTo>
                  <a:lnTo>
                    <a:pt x="5217414" y="2727198"/>
                  </a:lnTo>
                  <a:lnTo>
                    <a:pt x="467360" y="2727198"/>
                  </a:lnTo>
                  <a:lnTo>
                    <a:pt x="467360" y="2714498"/>
                  </a:lnTo>
                  <a:lnTo>
                    <a:pt x="467360" y="2727198"/>
                  </a:lnTo>
                  <a:cubicBezTo>
                    <a:pt x="209296" y="2727071"/>
                    <a:pt x="0" y="2518918"/>
                    <a:pt x="0" y="2261997"/>
                  </a:cubicBezTo>
                  <a:lnTo>
                    <a:pt x="0" y="465201"/>
                  </a:lnTo>
                  <a:lnTo>
                    <a:pt x="12700" y="465201"/>
                  </a:lnTo>
                  <a:lnTo>
                    <a:pt x="0" y="465201"/>
                  </a:lnTo>
                  <a:moveTo>
                    <a:pt x="25400" y="465201"/>
                  </a:moveTo>
                  <a:lnTo>
                    <a:pt x="25400" y="2261997"/>
                  </a:lnTo>
                  <a:lnTo>
                    <a:pt x="12700" y="2261997"/>
                  </a:lnTo>
                  <a:lnTo>
                    <a:pt x="25400" y="2261997"/>
                  </a:lnTo>
                  <a:cubicBezTo>
                    <a:pt x="25400" y="2504821"/>
                    <a:pt x="223266" y="2701798"/>
                    <a:pt x="467360" y="2701798"/>
                  </a:cubicBezTo>
                  <a:lnTo>
                    <a:pt x="5217414" y="2701798"/>
                  </a:lnTo>
                  <a:cubicBezTo>
                    <a:pt x="5461635" y="2701798"/>
                    <a:pt x="5659374" y="2504821"/>
                    <a:pt x="5659374" y="2261997"/>
                  </a:cubicBezTo>
                  <a:lnTo>
                    <a:pt x="5659374" y="465201"/>
                  </a:lnTo>
                  <a:cubicBezTo>
                    <a:pt x="5659501" y="222377"/>
                    <a:pt x="5461635" y="25400"/>
                    <a:pt x="5217414" y="25400"/>
                  </a:cubicBezTo>
                  <a:lnTo>
                    <a:pt x="467360" y="25400"/>
                  </a:lnTo>
                  <a:lnTo>
                    <a:pt x="467360" y="12700"/>
                  </a:lnTo>
                  <a:lnTo>
                    <a:pt x="467360" y="25400"/>
                  </a:lnTo>
                  <a:cubicBezTo>
                    <a:pt x="223266" y="25400"/>
                    <a:pt x="25400" y="222377"/>
                    <a:pt x="25400" y="465201"/>
                  </a:cubicBezTo>
                  <a:close/>
                </a:path>
              </a:pathLst>
            </a:custGeom>
            <a:solidFill>
              <a:srgbClr val="29DDDA"/>
            </a:solidFill>
          </p:spPr>
        </p:sp>
      </p:grpSp>
      <p:sp>
        <p:nvSpPr>
          <p:cNvPr id="27" name="TextBox 27"/>
          <p:cNvSpPr txBox="1"/>
          <p:nvPr/>
        </p:nvSpPr>
        <p:spPr>
          <a:xfrm>
            <a:off x="6622255" y="5855146"/>
            <a:ext cx="3612951" cy="5951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937" b="1" dirty="0">
                <a:solidFill>
                  <a:srgbClr val="E0E4E6"/>
                </a:solidFill>
                <a:latin typeface="Arimo Bold"/>
                <a:ea typeface="Arimo Bold"/>
                <a:cs typeface="Arimo Bold"/>
                <a:sym typeface="Arimo Bold"/>
              </a:rPr>
              <a:t>Solution: Going thru documentation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622255" y="6473502"/>
            <a:ext cx="3754041" cy="10323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750" dirty="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Since any of us was used to Firebase we had to learn how to properly use it from scratch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A081B">
                <a:alpha val="56078"/>
              </a:srgbClr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1430000" y="0"/>
            <a:ext cx="6858000" cy="10290274"/>
            <a:chOff x="0" y="0"/>
            <a:chExt cx="9144000" cy="13720365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9144000" cy="13720318"/>
            </a:xfrm>
            <a:custGeom>
              <a:avLst/>
              <a:gdLst/>
              <a:ahLst/>
              <a:cxnLst/>
              <a:rect l="l" t="t" r="r" b="b"/>
              <a:pathLst>
                <a:path w="9144000" h="13720318">
                  <a:moveTo>
                    <a:pt x="0" y="0"/>
                  </a:moveTo>
                  <a:lnTo>
                    <a:pt x="9144000" y="0"/>
                  </a:lnTo>
                  <a:lnTo>
                    <a:pt x="9144000" y="13720318"/>
                  </a:lnTo>
                  <a:lnTo>
                    <a:pt x="0" y="137203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5" r="-15"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1028700" y="360186"/>
            <a:ext cx="6938368" cy="7974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37"/>
              </a:lnSpc>
            </a:pPr>
            <a:r>
              <a:rPr lang="en-US" sz="4750" b="1">
                <a:solidFill>
                  <a:srgbClr val="F0FCFF"/>
                </a:solidFill>
                <a:latin typeface="Arimo Bold"/>
                <a:ea typeface="Arimo Bold"/>
                <a:cs typeface="Arimo Bold"/>
                <a:sym typeface="Arimo Bold"/>
              </a:rPr>
              <a:t>Next Steps: Sprint 3 Plan</a:t>
            </a:r>
          </a:p>
        </p:txBody>
      </p:sp>
      <p:sp>
        <p:nvSpPr>
          <p:cNvPr id="9" name="Freeform 9" descr="preencoded.png"/>
          <p:cNvSpPr/>
          <p:nvPr/>
        </p:nvSpPr>
        <p:spPr>
          <a:xfrm>
            <a:off x="1059061" y="1972121"/>
            <a:ext cx="410021" cy="410021"/>
          </a:xfrm>
          <a:custGeom>
            <a:avLst/>
            <a:gdLst/>
            <a:ahLst/>
            <a:cxnLst/>
            <a:rect l="l" t="t" r="r" b="b"/>
            <a:pathLst>
              <a:path w="410021" h="410021">
                <a:moveTo>
                  <a:pt x="0" y="0"/>
                </a:moveTo>
                <a:lnTo>
                  <a:pt x="410021" y="0"/>
                </a:lnTo>
                <a:lnTo>
                  <a:pt x="410021" y="410021"/>
                </a:lnTo>
                <a:lnTo>
                  <a:pt x="0" y="4100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7954" r="-7954"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844874" y="1882974"/>
            <a:ext cx="3869085" cy="493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812" b="1" dirty="0">
                <a:solidFill>
                  <a:srgbClr val="E0E4E6"/>
                </a:solidFill>
                <a:latin typeface="Arimo Bold"/>
                <a:ea typeface="Arimo Bold"/>
                <a:cs typeface="Arimo Bold"/>
                <a:sym typeface="Arimo Bold"/>
              </a:rPr>
              <a:t>Insurance &amp; Surrender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844874" y="2454920"/>
            <a:ext cx="8628460" cy="960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125" dirty="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Implement advanced player options: taking insurance against a dealer's Ace and the option to surrender.</a:t>
            </a:r>
          </a:p>
        </p:txBody>
      </p:sp>
      <p:sp>
        <p:nvSpPr>
          <p:cNvPr id="12" name="Freeform 12" descr="preencoded.png"/>
          <p:cNvSpPr/>
          <p:nvPr/>
        </p:nvSpPr>
        <p:spPr>
          <a:xfrm>
            <a:off x="1059061" y="4013150"/>
            <a:ext cx="410021" cy="410021"/>
          </a:xfrm>
          <a:custGeom>
            <a:avLst/>
            <a:gdLst/>
            <a:ahLst/>
            <a:cxnLst/>
            <a:rect l="l" t="t" r="r" b="b"/>
            <a:pathLst>
              <a:path w="410021" h="410021">
                <a:moveTo>
                  <a:pt x="0" y="0"/>
                </a:moveTo>
                <a:lnTo>
                  <a:pt x="410021" y="0"/>
                </a:lnTo>
                <a:lnTo>
                  <a:pt x="410021" y="410021"/>
                </a:lnTo>
                <a:lnTo>
                  <a:pt x="0" y="41002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7954" r="-7954"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844874" y="3924002"/>
            <a:ext cx="6308526" cy="4283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812" b="1" dirty="0">
                <a:solidFill>
                  <a:srgbClr val="E0E4E6"/>
                </a:solidFill>
                <a:latin typeface="Arimo Bold"/>
                <a:ea typeface="Arimo Bold"/>
                <a:cs typeface="Arimo Bold"/>
                <a:sym typeface="Arimo Bold"/>
              </a:rPr>
              <a:t>Persistent Bankroll and Chips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844874" y="4363354"/>
            <a:ext cx="8628460" cy="12535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125" dirty="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Integrate a persistent user bankroll/wallet that updates accurately after every round and persists across sessions. Which will be implemented after the betting amount per hand .</a:t>
            </a:r>
          </a:p>
        </p:txBody>
      </p:sp>
      <p:sp>
        <p:nvSpPr>
          <p:cNvPr id="15" name="Freeform 15" descr="preencoded.png"/>
          <p:cNvSpPr/>
          <p:nvPr/>
        </p:nvSpPr>
        <p:spPr>
          <a:xfrm>
            <a:off x="1059061" y="6054179"/>
            <a:ext cx="410021" cy="410021"/>
          </a:xfrm>
          <a:custGeom>
            <a:avLst/>
            <a:gdLst/>
            <a:ahLst/>
            <a:cxnLst/>
            <a:rect l="l" t="t" r="r" b="b"/>
            <a:pathLst>
              <a:path w="410021" h="410021">
                <a:moveTo>
                  <a:pt x="0" y="0"/>
                </a:moveTo>
                <a:lnTo>
                  <a:pt x="410021" y="0"/>
                </a:lnTo>
                <a:lnTo>
                  <a:pt x="410021" y="410021"/>
                </a:lnTo>
                <a:lnTo>
                  <a:pt x="0" y="41002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7954" r="-7954"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1844874" y="5923646"/>
            <a:ext cx="8628460" cy="4283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812" b="1" dirty="0">
                <a:solidFill>
                  <a:srgbClr val="E0E4E6"/>
                </a:solidFill>
                <a:latin typeface="Arimo Bold"/>
                <a:ea typeface="Arimo Bold"/>
                <a:cs typeface="Arimo Bold"/>
                <a:sym typeface="Arimo Bold"/>
              </a:rPr>
              <a:t>Database consistency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844874" y="6307535"/>
            <a:ext cx="8628460" cy="12633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437"/>
              </a:lnSpc>
            </a:pPr>
            <a:r>
              <a:rPr lang="en-GB" sz="2130" dirty="0">
                <a:solidFill>
                  <a:schemeClr val="bg1">
                    <a:lumMod val="85000"/>
                  </a:schemeClr>
                </a:solidFill>
              </a:rPr>
              <a:t>Due to the fact that every user will have a wallet, we need to limit database writes and reads to the latest version of the app, which will help maintain data consistency and give the app a more professional look.</a:t>
            </a:r>
            <a:endParaRPr lang="en-US" sz="2130" dirty="0">
              <a:solidFill>
                <a:schemeClr val="bg1">
                  <a:lumMod val="85000"/>
                </a:schemeClr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8" name="Freeform 18" descr="preencoded.png"/>
          <p:cNvSpPr/>
          <p:nvPr/>
        </p:nvSpPr>
        <p:spPr>
          <a:xfrm>
            <a:off x="1059061" y="8095209"/>
            <a:ext cx="410021" cy="410021"/>
          </a:xfrm>
          <a:custGeom>
            <a:avLst/>
            <a:gdLst/>
            <a:ahLst/>
            <a:cxnLst/>
            <a:rect l="l" t="t" r="r" b="b"/>
            <a:pathLst>
              <a:path w="410021" h="410021">
                <a:moveTo>
                  <a:pt x="0" y="0"/>
                </a:moveTo>
                <a:lnTo>
                  <a:pt x="410021" y="0"/>
                </a:lnTo>
                <a:lnTo>
                  <a:pt x="410021" y="410021"/>
                </a:lnTo>
                <a:lnTo>
                  <a:pt x="0" y="41002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7954" r="-7954"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1832174" y="8159145"/>
            <a:ext cx="3644652" cy="4283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812" b="1" dirty="0">
                <a:solidFill>
                  <a:srgbClr val="E0E4E6"/>
                </a:solidFill>
                <a:latin typeface="Arimo Bold"/>
                <a:ea typeface="Arimo Bold"/>
                <a:cs typeface="Arimo Bold"/>
                <a:sym typeface="Arimo Bold"/>
              </a:rPr>
              <a:t>Handling Splits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844874" y="8578006"/>
            <a:ext cx="8628460" cy="8401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437"/>
              </a:lnSpc>
            </a:pPr>
            <a:r>
              <a:rPr lang="en-GB" sz="2130" dirty="0">
                <a:solidFill>
                  <a:schemeClr val="bg1">
                    <a:lumMod val="85000"/>
                  </a:schemeClr>
                </a:solidFill>
              </a:rPr>
              <a:t>Advanced feature implementation for splitting pairs and managing multiple hands simultaneously.</a:t>
            </a:r>
            <a:endParaRPr lang="en-US" sz="2130" dirty="0">
              <a:solidFill>
                <a:schemeClr val="bg1">
                  <a:lumMod val="85000"/>
                </a:schemeClr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A081B">
                <a:alpha val="56078"/>
              </a:srgbClr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730597" y="859036"/>
            <a:ext cx="6415088" cy="627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62"/>
              </a:lnSpc>
            </a:pPr>
            <a:r>
              <a:rPr lang="en-US" sz="3625" b="1">
                <a:solidFill>
                  <a:srgbClr val="F0FCFF"/>
                </a:solidFill>
                <a:latin typeface="Arimo Bold"/>
                <a:ea typeface="Arimo Bold"/>
                <a:cs typeface="Arimo Bold"/>
                <a:sym typeface="Arimo Bold"/>
              </a:rPr>
              <a:t>Conclusion: Ready for Launch</a:t>
            </a:r>
          </a:p>
        </p:txBody>
      </p:sp>
      <p:sp>
        <p:nvSpPr>
          <p:cNvPr id="7" name="Freeform 7" descr="preencoded.png"/>
          <p:cNvSpPr/>
          <p:nvPr/>
        </p:nvSpPr>
        <p:spPr>
          <a:xfrm>
            <a:off x="730597" y="1936551"/>
            <a:ext cx="626120" cy="626120"/>
          </a:xfrm>
          <a:custGeom>
            <a:avLst/>
            <a:gdLst/>
            <a:ahLst/>
            <a:cxnLst/>
            <a:rect l="l" t="t" r="r" b="b"/>
            <a:pathLst>
              <a:path w="626120" h="626120">
                <a:moveTo>
                  <a:pt x="0" y="0"/>
                </a:moveTo>
                <a:lnTo>
                  <a:pt x="626121" y="0"/>
                </a:lnTo>
                <a:lnTo>
                  <a:pt x="626121" y="626120"/>
                </a:lnTo>
                <a:lnTo>
                  <a:pt x="0" y="6261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21212" r="-21212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730597" y="2667446"/>
            <a:ext cx="3732162" cy="366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2187" b="1">
                <a:solidFill>
                  <a:srgbClr val="E0E4E6"/>
                </a:solidFill>
                <a:latin typeface="Arimo Bold"/>
                <a:ea typeface="Arimo Bold"/>
                <a:cs typeface="Arimo Bold"/>
                <a:sym typeface="Arimo Bold"/>
              </a:rPr>
              <a:t>Core Functionality Complete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30597" y="3378101"/>
            <a:ext cx="9968805" cy="2917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625" dirty="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Sprint 2 successfully delivered the interactive betting and complex gameplay mechanics (login, hit , stand).</a:t>
            </a:r>
          </a:p>
        </p:txBody>
      </p:sp>
      <p:sp>
        <p:nvSpPr>
          <p:cNvPr id="10" name="Freeform 10" descr="preencoded.png"/>
          <p:cNvSpPr/>
          <p:nvPr/>
        </p:nvSpPr>
        <p:spPr>
          <a:xfrm>
            <a:off x="730597" y="3910905"/>
            <a:ext cx="626120" cy="626120"/>
          </a:xfrm>
          <a:custGeom>
            <a:avLst/>
            <a:gdLst/>
            <a:ahLst/>
            <a:cxnLst/>
            <a:rect l="l" t="t" r="r" b="b"/>
            <a:pathLst>
              <a:path w="626120" h="626120">
                <a:moveTo>
                  <a:pt x="0" y="0"/>
                </a:moveTo>
                <a:lnTo>
                  <a:pt x="626121" y="0"/>
                </a:lnTo>
                <a:lnTo>
                  <a:pt x="626121" y="626120"/>
                </a:lnTo>
                <a:lnTo>
                  <a:pt x="0" y="62612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t="-8333" b="-8333"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730597" y="4778871"/>
            <a:ext cx="2783235" cy="366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2187" b="1">
                <a:solidFill>
                  <a:srgbClr val="E0E4E6"/>
                </a:solidFill>
                <a:latin typeface="Arimo Bold"/>
                <a:ea typeface="Arimo Bold"/>
                <a:cs typeface="Arimo Bold"/>
                <a:sym typeface="Arimo Bold"/>
              </a:rPr>
              <a:t>Team Performance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30597" y="5204223"/>
            <a:ext cx="9968805" cy="400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625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Excellent collaboration and proactive problem-solving ensured all major features were delivered on time.</a:t>
            </a:r>
          </a:p>
        </p:txBody>
      </p:sp>
      <p:sp>
        <p:nvSpPr>
          <p:cNvPr id="13" name="Freeform 13" descr="preencoded.png"/>
          <p:cNvSpPr/>
          <p:nvPr/>
        </p:nvSpPr>
        <p:spPr>
          <a:xfrm>
            <a:off x="730597" y="6022330"/>
            <a:ext cx="626120" cy="626120"/>
          </a:xfrm>
          <a:custGeom>
            <a:avLst/>
            <a:gdLst/>
            <a:ahLst/>
            <a:cxnLst/>
            <a:rect l="l" t="t" r="r" b="b"/>
            <a:pathLst>
              <a:path w="626120" h="626120">
                <a:moveTo>
                  <a:pt x="0" y="0"/>
                </a:moveTo>
                <a:lnTo>
                  <a:pt x="626121" y="0"/>
                </a:lnTo>
                <a:lnTo>
                  <a:pt x="626121" y="626120"/>
                </a:lnTo>
                <a:lnTo>
                  <a:pt x="0" y="62612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14393" r="-14393"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730597" y="6890296"/>
            <a:ext cx="2783235" cy="366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2187" b="1">
                <a:solidFill>
                  <a:srgbClr val="E0E4E6"/>
                </a:solidFill>
                <a:latin typeface="Arimo Bold"/>
                <a:ea typeface="Arimo Bold"/>
                <a:cs typeface="Arimo Bold"/>
                <a:sym typeface="Arimo Bold"/>
              </a:rPr>
              <a:t>Next Milestone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30597" y="7315646"/>
            <a:ext cx="9968805" cy="400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625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Sprint 3 will focus on financial persistence and a final polish for a full product release candidate.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30597" y="8000702"/>
            <a:ext cx="6615410" cy="4924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874" b="1">
                <a:solidFill>
                  <a:srgbClr val="F0FCFF"/>
                </a:solidFill>
                <a:latin typeface="Arimo Bold"/>
                <a:ea typeface="Arimo Bold"/>
                <a:cs typeface="Arimo Bold"/>
                <a:sym typeface="Arimo Bold"/>
              </a:rPr>
              <a:t>Thank you for your time and feedback!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453</Words>
  <Application>Microsoft Office PowerPoint</Application>
  <PresentationFormat>Custom</PresentationFormat>
  <Paragraphs>56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Calibri</vt:lpstr>
      <vt:lpstr>Arial</vt:lpstr>
      <vt:lpstr>Arimo Bold</vt:lpstr>
      <vt:lpstr>Barlow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 November 2024</dc:title>
  <cp:lastModifiedBy>Nischal Raj Shakya</cp:lastModifiedBy>
  <cp:revision>4</cp:revision>
  <dcterms:created xsi:type="dcterms:W3CDTF">2006-08-16T00:00:00Z</dcterms:created>
  <dcterms:modified xsi:type="dcterms:W3CDTF">2025-11-05T12:16:56Z</dcterms:modified>
  <dc:identifier>DAG3xlXvuWQ</dc:identifier>
</cp:coreProperties>
</file>